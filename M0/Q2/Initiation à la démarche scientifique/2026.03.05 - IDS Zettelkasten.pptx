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4"/>
    <p:sldMasterId id="2147483652" r:id="rId5"/>
  </p:sldMasterIdLst>
  <p:notesMasterIdLst>
    <p:notesMasterId r:id="rId18"/>
  </p:notesMasterIdLst>
  <p:sldIdLst>
    <p:sldId id="261" r:id="rId6"/>
    <p:sldId id="25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636D1-F311-81A4-1548-4AFBB7FD7D51}" v="1277" dt="2026-03-04T15:26:12.485"/>
    <p1510:client id="{24467C32-2C79-A08B-5AD2-B56109D3FA8D}" v="604" dt="2026-03-04T15:50:41.702"/>
    <p1510:client id="{4477E929-6F52-5A1D-6475-D6D99D582BF1}" v="751" dt="2026-03-04T18:34:30.149"/>
    <p1510:client id="{4AAC9E6B-B2A6-B9F0-B431-57891B066E81}" v="1" dt="2026-03-03T08:10:31.122"/>
    <p1510:client id="{5D23BD29-93BF-8929-4002-136EF9DB6418}" v="85" dt="2026-03-04T20:00:59.788"/>
    <p1510:client id="{CC95CBEA-D0D2-4EDB-5AFB-E95BF63F1742}" v="24" dt="2026-03-04T19:47:21.774"/>
    <p1510:client id="{CE4F3031-E99A-413C-8D36-6F79B3808183}" v="9" dt="2026-03-04T19:39:27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3EC7A-03ED-4E5B-AB89-277376DED2A9}" type="datetimeFigureOut"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2B78C-D015-48B8-BDE1-8A7E581C73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7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399" y="2683280"/>
            <a:ext cx="9259711" cy="1470025"/>
          </a:xfrm>
          <a:prstGeom prst="rect">
            <a:avLst/>
          </a:prstGeom>
        </p:spPr>
        <p:txBody>
          <a:bodyPr anchor="ctr" anchorCtr="0"/>
          <a:lstStyle>
            <a:lvl1pPr algn="r">
              <a:defRPr sz="3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nl-BE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5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 algn="l">
              <a:defRPr sz="2000" b="0" i="0">
                <a:solidFill>
                  <a:srgbClr val="2E3135"/>
                </a:solidFill>
                <a:latin typeface="Verdana"/>
                <a:cs typeface="Verdana"/>
              </a:defRPr>
            </a:lvl1pPr>
          </a:lstStyle>
          <a:p>
            <a:r>
              <a:rPr lang="nl-BE"/>
              <a:t>Cliquez et modifiez le titre</a:t>
            </a:r>
            <a:endParaRPr lang="fr-FR"/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305291"/>
              </a:buClr>
              <a:buFont typeface="Arial"/>
              <a:buNone/>
              <a:defRPr sz="2700">
                <a:solidFill>
                  <a:srgbClr val="474746"/>
                </a:solidFill>
                <a:latin typeface="+mj-lt"/>
              </a:defRPr>
            </a:lvl1pPr>
            <a:lvl2pPr marL="720000" indent="-285750" algn="l">
              <a:buClr>
                <a:srgbClr val="41A336"/>
              </a:buClr>
              <a:buFont typeface="Arial"/>
              <a:buChar char="•"/>
              <a:defRPr sz="1600" b="0" i="0">
                <a:solidFill>
                  <a:srgbClr val="2E3135"/>
                </a:solidFill>
                <a:latin typeface="Verdana"/>
                <a:cs typeface="Verdana"/>
              </a:defRPr>
            </a:lvl2pPr>
            <a:lvl3pPr marL="990000" indent="-228600" algn="l">
              <a:buClr>
                <a:srgbClr val="41A336"/>
              </a:buClr>
              <a:buFont typeface="Arial"/>
              <a:buChar char="•"/>
              <a:defRPr sz="1400" b="0" i="0">
                <a:solidFill>
                  <a:srgbClr val="2E3135"/>
                </a:solidFill>
                <a:latin typeface="Verdana"/>
                <a:cs typeface="Verdana"/>
              </a:defRPr>
            </a:lvl3pPr>
            <a:lvl4pPr marL="1260000" indent="-228600" algn="l">
              <a:buClr>
                <a:srgbClr val="41A336"/>
              </a:buClr>
              <a:buFont typeface="Arial"/>
              <a:buChar char="•"/>
              <a:defRPr sz="1200" b="0" i="0">
                <a:solidFill>
                  <a:srgbClr val="2E3135"/>
                </a:solidFill>
                <a:latin typeface="Verdana"/>
                <a:cs typeface="Verdana"/>
              </a:defRPr>
            </a:lvl4pPr>
            <a:lvl5pPr marL="1530000" indent="-228600" algn="l">
              <a:buClr>
                <a:srgbClr val="41A336"/>
              </a:buClr>
              <a:buFont typeface="Arial"/>
              <a:buChar char="•"/>
              <a:defRPr sz="1000" b="0" i="0">
                <a:solidFill>
                  <a:srgbClr val="2E3135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0"/>
          </p:nvPr>
        </p:nvSpPr>
        <p:spPr>
          <a:xfrm>
            <a:off x="6885517" y="6286501"/>
            <a:ext cx="2844800" cy="365125"/>
          </a:xfrm>
          <a:prstGeom prst="rect">
            <a:avLst/>
          </a:prstGeom>
        </p:spPr>
        <p:txBody>
          <a:bodyPr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>
                <a:solidFill>
                  <a:srgbClr val="305291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1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1"/>
            </a:lvl1pPr>
            <a:lvl2pPr marL="45914" indent="0" algn="ctr">
              <a:buNone/>
              <a:defRPr sz="201"/>
            </a:lvl2pPr>
            <a:lvl3pPr marL="91829" indent="0" algn="ctr">
              <a:buNone/>
              <a:defRPr sz="181"/>
            </a:lvl3pPr>
            <a:lvl4pPr marL="137743" indent="0" algn="ctr">
              <a:buNone/>
              <a:defRPr sz="161"/>
            </a:lvl4pPr>
            <a:lvl5pPr marL="183657" indent="0" algn="ctr">
              <a:buNone/>
              <a:defRPr sz="161"/>
            </a:lvl5pPr>
            <a:lvl6pPr marL="229572" indent="0" algn="ctr">
              <a:buNone/>
              <a:defRPr sz="161"/>
            </a:lvl6pPr>
            <a:lvl7pPr marL="275486" indent="0" algn="ctr">
              <a:buNone/>
              <a:defRPr sz="161"/>
            </a:lvl7pPr>
            <a:lvl8pPr marL="321400" indent="0" algn="ctr">
              <a:buNone/>
              <a:defRPr sz="161"/>
            </a:lvl8pPr>
            <a:lvl9pPr marL="367314" indent="0" algn="ctr">
              <a:buNone/>
              <a:defRPr sz="16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1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cessus 6"/>
          <p:cNvSpPr/>
          <p:nvPr userDrawn="1"/>
        </p:nvSpPr>
        <p:spPr>
          <a:xfrm>
            <a:off x="0" y="1"/>
            <a:ext cx="12192000" cy="5497513"/>
          </a:xfrm>
          <a:prstGeom prst="flowChartProcess">
            <a:avLst/>
          </a:prstGeom>
          <a:solidFill>
            <a:srgbClr val="55A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>
                <a:latin typeface="Verdana"/>
                <a:cs typeface="Verdana"/>
              </a:rPr>
              <a:t>               </a:t>
            </a:r>
          </a:p>
        </p:txBody>
      </p:sp>
      <p:pic>
        <p:nvPicPr>
          <p:cNvPr id="3075" name="Image 4" descr="PICTOS_blanc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549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6" name="Grouper 12"/>
          <p:cNvGrpSpPr>
            <a:grpSpLocks/>
          </p:cNvGrpSpPr>
          <p:nvPr userDrawn="1"/>
        </p:nvGrpSpPr>
        <p:grpSpPr bwMode="auto">
          <a:xfrm>
            <a:off x="9264651" y="5353050"/>
            <a:ext cx="1845733" cy="814388"/>
            <a:chOff x="6948948" y="5525435"/>
            <a:chExt cx="1384302" cy="813222"/>
          </a:xfrm>
        </p:grpSpPr>
        <p:sp>
          <p:nvSpPr>
            <p:cNvPr id="9" name="Processus 8"/>
            <p:cNvSpPr/>
            <p:nvPr userDrawn="1"/>
          </p:nvSpPr>
          <p:spPr>
            <a:xfrm>
              <a:off x="7298199" y="5525435"/>
              <a:ext cx="682626" cy="507273"/>
            </a:xfrm>
            <a:prstGeom prst="flowChartProcess">
              <a:avLst/>
            </a:prstGeom>
            <a:solidFill>
              <a:srgbClr val="55AB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FR">
                  <a:latin typeface="Verdana"/>
                  <a:cs typeface="Verdana"/>
                </a:rPr>
                <a:t>     </a:t>
              </a:r>
            </a:p>
          </p:txBody>
        </p:sp>
        <p:sp>
          <p:nvSpPr>
            <p:cNvPr id="10" name="Connecteur 10"/>
            <p:cNvSpPr/>
            <p:nvPr userDrawn="1"/>
          </p:nvSpPr>
          <p:spPr>
            <a:xfrm>
              <a:off x="6948948" y="5669691"/>
              <a:ext cx="1384302" cy="668966"/>
            </a:xfrm>
            <a:custGeom>
              <a:avLst/>
              <a:gdLst/>
              <a:ahLst/>
              <a:cxnLst/>
              <a:rect l="l" t="t" r="r" b="b"/>
              <a:pathLst>
                <a:path w="1384302" h="668657">
                  <a:moveTo>
                    <a:pt x="350838" y="0"/>
                  </a:moveTo>
                  <a:cubicBezTo>
                    <a:pt x="496159" y="0"/>
                    <a:pt x="620845" y="84197"/>
                    <a:pt x="674105" y="204193"/>
                  </a:cubicBezTo>
                  <a:lnTo>
                    <a:pt x="692151" y="259591"/>
                  </a:lnTo>
                  <a:lnTo>
                    <a:pt x="710197" y="204194"/>
                  </a:lnTo>
                  <a:cubicBezTo>
                    <a:pt x="763457" y="84198"/>
                    <a:pt x="888143" y="1"/>
                    <a:pt x="1033464" y="1"/>
                  </a:cubicBezTo>
                  <a:cubicBezTo>
                    <a:pt x="1227226" y="1"/>
                    <a:pt x="1384302" y="149685"/>
                    <a:pt x="1384302" y="334329"/>
                  </a:cubicBezTo>
                  <a:cubicBezTo>
                    <a:pt x="1384302" y="518973"/>
                    <a:pt x="1227226" y="668657"/>
                    <a:pt x="1033464" y="668657"/>
                  </a:cubicBezTo>
                  <a:cubicBezTo>
                    <a:pt x="888143" y="668657"/>
                    <a:pt x="763457" y="584460"/>
                    <a:pt x="710197" y="464465"/>
                  </a:cubicBezTo>
                  <a:lnTo>
                    <a:pt x="692151" y="409067"/>
                  </a:lnTo>
                  <a:lnTo>
                    <a:pt x="674105" y="464464"/>
                  </a:lnTo>
                  <a:cubicBezTo>
                    <a:pt x="620845" y="584459"/>
                    <a:pt x="496159" y="668656"/>
                    <a:pt x="350838" y="668656"/>
                  </a:cubicBezTo>
                  <a:cubicBezTo>
                    <a:pt x="157076" y="668656"/>
                    <a:pt x="0" y="518972"/>
                    <a:pt x="0" y="334328"/>
                  </a:cubicBezTo>
                  <a:cubicBezTo>
                    <a:pt x="0" y="149684"/>
                    <a:pt x="157076" y="0"/>
                    <a:pt x="3508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>
                <a:latin typeface="Verdana"/>
                <a:cs typeface="Verdana"/>
              </a:endParaRPr>
            </a:p>
          </p:txBody>
        </p:sp>
      </p:grpSp>
      <p:pic>
        <p:nvPicPr>
          <p:cNvPr id="3077" name="Image 11" descr="UNamur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0" y="5761039"/>
            <a:ext cx="1272117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Espace réservé du contenu 2"/>
          <p:cNvSpPr txBox="1">
            <a:spLocks/>
          </p:cNvSpPr>
          <p:nvPr userDrawn="1"/>
        </p:nvSpPr>
        <p:spPr>
          <a:xfrm>
            <a:off x="609600" y="6516688"/>
            <a:ext cx="10972800" cy="233362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6600"/>
              </a:buClr>
              <a:buFont typeface="Arial" panose="020B0604020202020204" pitchFamily="34" charset="0"/>
              <a:buNone/>
            </a:pPr>
            <a:r>
              <a:rPr lang="nl-BE" altLang="fr-FR" sz="800">
                <a:solidFill>
                  <a:srgbClr val="2E3135"/>
                </a:solidFill>
                <a:latin typeface="Verdana" panose="020B0604030504040204" pitchFamily="34" charset="0"/>
              </a:rPr>
              <a:t>www.unamur.be</a:t>
            </a:r>
            <a:endParaRPr lang="fr-FR" altLang="fr-FR" sz="800">
              <a:solidFill>
                <a:srgbClr val="2E3135"/>
              </a:solidFill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91300"/>
            <a:ext cx="12192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space réservé du contenu 2"/>
          <p:cNvSpPr txBox="1">
            <a:spLocks/>
          </p:cNvSpPr>
          <p:nvPr userDrawn="1"/>
        </p:nvSpPr>
        <p:spPr>
          <a:xfrm>
            <a:off x="609600" y="6516688"/>
            <a:ext cx="10972800" cy="233362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6600"/>
              </a:buClr>
              <a:buFont typeface="Arial" panose="020B0604020202020204" pitchFamily="34" charset="0"/>
              <a:buNone/>
            </a:pPr>
            <a:r>
              <a:rPr lang="nl-BE" altLang="fr-FR" sz="800">
                <a:solidFill>
                  <a:schemeClr val="bg1"/>
                </a:solidFill>
                <a:latin typeface="Verdana" panose="020B0604030504040204" pitchFamily="34" charset="0"/>
              </a:rPr>
              <a:t>www.unamur.be</a:t>
            </a:r>
            <a:endParaRPr lang="fr-FR" altLang="fr-FR" sz="8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pitchFamily="-109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pitchFamily="-109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pitchFamily="-109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n.wikipedia.org/wiki/Zettelkaste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riting.bobdoto.computer/the-difference-between-hub-notes-and-structure-notes-explained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630C8-5696-FCBD-59C1-BD77A5FAF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595" y="2683280"/>
            <a:ext cx="9744619" cy="1470025"/>
          </a:xfrm>
        </p:spPr>
        <p:txBody>
          <a:bodyPr lIns="91440" tIns="45720" rIns="91440" bIns="45720" anchor="ctr" anchorCtr="0"/>
          <a:lstStyle/>
          <a:p>
            <a:r>
              <a:rPr lang="fr-BE" sz="3200" b="1">
                <a:latin typeface="Calibri"/>
                <a:ea typeface="Calibri"/>
                <a:cs typeface="Calibri"/>
              </a:rPr>
              <a:t>INFOB302 - Introduction à la démarche scientifique</a:t>
            </a:r>
            <a:br>
              <a:rPr lang="fr-BE" sz="3200" b="1">
                <a:latin typeface="Calibri"/>
                <a:ea typeface="Calibri"/>
                <a:cs typeface="Calibri"/>
              </a:rPr>
            </a:br>
            <a:br>
              <a:rPr lang="fr-BE" sz="3600" b="1">
                <a:latin typeface="Calibri"/>
                <a:ea typeface="Calibri"/>
                <a:cs typeface="Calibri"/>
              </a:rPr>
            </a:br>
            <a:r>
              <a:rPr lang="fr-BE" sz="2800" b="1">
                <a:latin typeface="Calibri"/>
                <a:ea typeface="Calibri"/>
                <a:cs typeface="Calibri"/>
              </a:rPr>
              <a:t>TP 2 : Caractérisation d'un état de l'art</a:t>
            </a:r>
            <a:br>
              <a:rPr lang="fr-BE" sz="2800" b="1">
                <a:latin typeface="Calibri"/>
                <a:ea typeface="Calibri"/>
                <a:cs typeface="Calibri"/>
              </a:rPr>
            </a:br>
            <a:r>
              <a:rPr lang="fr-BE" sz="2000" b="1">
                <a:latin typeface="Calibri"/>
                <a:ea typeface="Calibri"/>
                <a:cs typeface="Calibri"/>
              </a:rPr>
              <a:t>05/03/26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BEC844D4-534A-212A-6140-9EC0E5AE6FBA}"/>
              </a:ext>
            </a:extLst>
          </p:cNvPr>
          <p:cNvSpPr txBox="1"/>
          <p:nvPr/>
        </p:nvSpPr>
        <p:spPr>
          <a:xfrm>
            <a:off x="419015" y="5547832"/>
            <a:ext cx="461279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latin typeface="Verdana"/>
                <a:ea typeface="Verdana"/>
              </a:rPr>
              <a:t>Jérôme </a:t>
            </a:r>
            <a:r>
              <a:rPr lang="fr-FR" err="1">
                <a:latin typeface="Verdana"/>
                <a:ea typeface="Verdana"/>
              </a:rPr>
              <a:t>Maquoi</a:t>
            </a:r>
            <a:endParaRPr lang="fr-FR">
              <a:latin typeface="Verdana"/>
              <a:ea typeface="Verdana"/>
              <a:cs typeface="Calibri"/>
            </a:endParaRPr>
          </a:p>
          <a:p>
            <a:endParaRPr lang="fr-FR" sz="1400">
              <a:latin typeface="Verdana"/>
              <a:ea typeface="Verdana"/>
              <a:cs typeface="Calibri"/>
            </a:endParaRPr>
          </a:p>
          <a:p>
            <a:r>
              <a:rPr lang="fr-FR" sz="1400">
                <a:latin typeface="Verdana"/>
                <a:ea typeface="Verdana"/>
                <a:cs typeface="Calibri"/>
              </a:rPr>
              <a:t>jerome.maquoi@unamur.be</a:t>
            </a:r>
          </a:p>
        </p:txBody>
      </p:sp>
      <p:pic>
        <p:nvPicPr>
          <p:cNvPr id="4" name="Picture 3" descr="Codage - Icônes multimédia gratuites">
            <a:extLst>
              <a:ext uri="{FF2B5EF4-FFF2-40B4-BE49-F238E27FC236}">
                <a16:creationId xmlns:a16="http://schemas.microsoft.com/office/drawing/2014/main" id="{32F882F4-146A-880A-FF7F-7CF131ABA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54" y="13744510"/>
            <a:ext cx="4277286" cy="4285583"/>
          </a:xfrm>
          <a:prstGeom prst="rect">
            <a:avLst/>
          </a:prstGeom>
        </p:spPr>
      </p:pic>
      <p:sp>
        <p:nvSpPr>
          <p:cNvPr id="5" name="TextBox 54">
            <a:extLst>
              <a:ext uri="{FF2B5EF4-FFF2-40B4-BE49-F238E27FC236}">
                <a16:creationId xmlns:a16="http://schemas.microsoft.com/office/drawing/2014/main" id="{FEAB2744-4BAA-B0B6-47A5-AA9BA4D3A6B1}"/>
              </a:ext>
            </a:extLst>
          </p:cNvPr>
          <p:cNvSpPr txBox="1"/>
          <p:nvPr/>
        </p:nvSpPr>
        <p:spPr>
          <a:xfrm>
            <a:off x="6689291" y="18270276"/>
            <a:ext cx="2301411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>
                <a:cs typeface="Calibri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267956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91B59-B6D0-4B95-9E9C-C0C0B1DE7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Paper </a:t>
            </a:r>
            <a:r>
              <a:rPr lang="fr-BE" sz="2400" err="1">
                <a:ea typeface="Calibri"/>
                <a:cs typeface="Calibri"/>
              </a:rPr>
              <a:t>reading</a:t>
            </a:r>
            <a:r>
              <a:rPr lang="fr-BE" sz="2400">
                <a:ea typeface="Calibri"/>
                <a:cs typeface="Calibri"/>
              </a:rPr>
              <a:t> to </a:t>
            </a:r>
            <a:r>
              <a:rPr lang="fr-BE" sz="2400" err="1">
                <a:ea typeface="Calibri"/>
                <a:cs typeface="Calibri"/>
              </a:rPr>
              <a:t>build</a:t>
            </a:r>
            <a:r>
              <a:rPr lang="fr-BE" sz="2400">
                <a:ea typeface="Calibri"/>
                <a:cs typeface="Calibri"/>
              </a:rPr>
              <a:t> a state of the art</a:t>
            </a:r>
          </a:p>
          <a:p>
            <a:pPr marL="1062355" lvl="1">
              <a:buFont typeface="Courier New,monospace"/>
              <a:buChar char="o"/>
            </a:pP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Sections to </a:t>
            </a:r>
            <a:r>
              <a:rPr lang="fr-BE" sz="20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read</a:t>
            </a: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fr-BE" sz="2000" i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Introduction</a:t>
            </a: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fr-BE" sz="2000" i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Background</a:t>
            </a: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fr-BE" sz="2000" i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Related</a:t>
            </a:r>
            <a:r>
              <a:rPr lang="fr-BE" sz="2000" i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2000" i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work</a:t>
            </a: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fr-BE" sz="2000" i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Conclusion</a:t>
            </a: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 and </a:t>
            </a:r>
            <a:r>
              <a:rPr lang="fr-BE" sz="2000" i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Future </a:t>
            </a:r>
            <a:r>
              <a:rPr lang="fr-BE" sz="2000" i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work</a:t>
            </a:r>
            <a:endParaRPr lang="fr-BE" sz="2000" err="1">
              <a:solidFill>
                <a:srgbClr val="474746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Char char="•"/>
            </a:pPr>
            <a:r>
              <a:rPr lang="fr-BE" sz="2400" err="1">
                <a:ea typeface="Calibri"/>
                <a:cs typeface="Calibri"/>
              </a:rPr>
              <a:t>Idea</a:t>
            </a:r>
            <a:r>
              <a:rPr lang="fr-BE" sz="2400">
                <a:ea typeface="Calibri"/>
                <a:cs typeface="Calibri"/>
              </a:rPr>
              <a:t> = </a:t>
            </a:r>
            <a:r>
              <a:rPr lang="fr-BE" sz="2400" err="1">
                <a:ea typeface="Calibri"/>
                <a:cs typeface="Calibri"/>
              </a:rPr>
              <a:t>make</a:t>
            </a:r>
            <a:r>
              <a:rPr lang="fr-BE" sz="2400">
                <a:ea typeface="Calibri"/>
                <a:cs typeface="Calibri"/>
              </a:rPr>
              <a:t> connections </a:t>
            </a:r>
            <a:r>
              <a:rPr lang="fr-BE" sz="2400" err="1">
                <a:ea typeface="Calibri"/>
                <a:cs typeface="Calibri"/>
              </a:rPr>
              <a:t>between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what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already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exists</a:t>
            </a:r>
            <a:r>
              <a:rPr lang="fr-BE" sz="2400">
                <a:ea typeface="Calibri"/>
                <a:cs typeface="Calibri"/>
              </a:rPr>
              <a:t> in a </a:t>
            </a:r>
            <a:r>
              <a:rPr lang="fr-BE" sz="2400" err="1">
                <a:ea typeface="Calibri"/>
                <a:cs typeface="Calibri"/>
              </a:rPr>
              <a:t>domain</a:t>
            </a:r>
            <a:r>
              <a:rPr lang="fr-BE" sz="2400">
                <a:ea typeface="Calibri"/>
                <a:cs typeface="Calibri"/>
              </a:rPr>
              <a:t>, to </a:t>
            </a:r>
            <a:r>
              <a:rPr lang="fr-BE" sz="2400" err="1">
                <a:ea typeface="Calibri"/>
                <a:cs typeface="Calibri"/>
              </a:rPr>
              <a:t>see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what</a:t>
            </a:r>
            <a:r>
              <a:rPr lang="fr-BE" sz="2400">
                <a:ea typeface="Calibri"/>
                <a:cs typeface="Calibri"/>
              </a:rPr>
              <a:t> has not been </a:t>
            </a:r>
            <a:r>
              <a:rPr lang="fr-BE" sz="2400" err="1">
                <a:ea typeface="Calibri"/>
                <a:cs typeface="Calibri"/>
              </a:rPr>
              <a:t>done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yet</a:t>
            </a:r>
            <a:endParaRPr lang="fr-BE" sz="2400">
              <a:ea typeface="Calibri"/>
              <a:cs typeface="Calibri"/>
            </a:endParaRPr>
          </a:p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Ok... But how?</a:t>
            </a:r>
          </a:p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Lots of techniques: </a:t>
            </a:r>
            <a:r>
              <a:rPr lang="fr-BE" sz="2400" err="1">
                <a:ea typeface="Calibri"/>
                <a:cs typeface="Calibri"/>
              </a:rPr>
              <a:t>mindmap</a:t>
            </a:r>
            <a:r>
              <a:rPr lang="fr-BE" sz="2400">
                <a:ea typeface="Calibri"/>
                <a:cs typeface="Calibri"/>
              </a:rPr>
              <a:t>, Cornell technique, ...</a:t>
            </a:r>
          </a:p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Proposition of a technique </a:t>
            </a:r>
            <a:r>
              <a:rPr lang="fr-BE" sz="2400" err="1">
                <a:ea typeface="Calibri"/>
                <a:cs typeface="Calibri"/>
              </a:rPr>
              <a:t>based</a:t>
            </a:r>
            <a:r>
              <a:rPr lang="fr-BE" sz="2400">
                <a:ea typeface="Calibri"/>
                <a:cs typeface="Calibri"/>
              </a:rPr>
              <a:t> on </a:t>
            </a:r>
            <a:r>
              <a:rPr lang="fr-BE" sz="2400" err="1">
                <a:ea typeface="Calibri"/>
                <a:cs typeface="Calibri"/>
              </a:rPr>
              <a:t>what</a:t>
            </a:r>
            <a:r>
              <a:rPr lang="fr-BE" sz="2400">
                <a:ea typeface="Calibri"/>
                <a:cs typeface="Calibri"/>
              </a:rPr>
              <a:t> I do for </a:t>
            </a:r>
            <a:r>
              <a:rPr lang="fr-BE" sz="2400" err="1">
                <a:ea typeface="Calibri"/>
                <a:cs typeface="Calibri"/>
              </a:rPr>
              <a:t>my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research</a:t>
            </a:r>
            <a:r>
              <a:rPr lang="fr-BE" sz="2400">
                <a:ea typeface="Calibri"/>
                <a:cs typeface="Calibri"/>
              </a:rPr>
              <a:t>: </a:t>
            </a:r>
            <a:r>
              <a:rPr lang="fr-BE" sz="2400" err="1">
                <a:ea typeface="Calibri"/>
                <a:cs typeface="Calibri"/>
              </a:rPr>
              <a:t>using</a:t>
            </a:r>
            <a:r>
              <a:rPr lang="fr-BE" sz="2400">
                <a:ea typeface="Calibri"/>
                <a:cs typeface="Calibri"/>
              </a:rPr>
              <a:t> a </a:t>
            </a:r>
            <a:r>
              <a:rPr lang="fr-BE" sz="2400" b="1">
                <a:ea typeface="Calibri"/>
                <a:cs typeface="Calibri"/>
              </a:rPr>
              <a:t>Zettelkasten</a:t>
            </a:r>
          </a:p>
          <a:p>
            <a:pPr marL="342900" indent="-342900">
              <a:buChar char="•"/>
            </a:pPr>
            <a:endParaRPr lang="fr-BE" sz="2400"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6323CAC-BF9B-41B7-80A8-163F0282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Objectives</a:t>
            </a:r>
            <a:endParaRPr lang="en-GB" sz="2800" b="1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C2DB3200-8586-4B6C-AAA2-69F6C301B0F5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2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25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D563F-262A-4BDC-E29D-44DD780A2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8866F-FED6-9B5E-0E65-3B165BD66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4571"/>
            <a:ext cx="10972800" cy="2108260"/>
          </a:xfrm>
        </p:spPr>
        <p:txBody>
          <a:bodyPr lIns="91440" tIns="45720" rIns="91440" bIns="45720" anchor="t"/>
          <a:lstStyle/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"A Zettelkasten or card file consists of small items of information stored on </a:t>
            </a:r>
            <a:r>
              <a:rPr lang="fr-BE" sz="2400" i="1">
                <a:ea typeface="Calibri"/>
                <a:cs typeface="Calibri"/>
              </a:rPr>
              <a:t>Zetteln</a:t>
            </a:r>
            <a:r>
              <a:rPr lang="fr-BE" sz="2400">
                <a:ea typeface="Calibri"/>
                <a:cs typeface="Calibri"/>
              </a:rPr>
              <a:t> (German: 'slips'; singular: </a:t>
            </a:r>
            <a:r>
              <a:rPr lang="fr-BE" sz="2400" i="1">
                <a:ea typeface="Calibri"/>
                <a:cs typeface="Calibri"/>
              </a:rPr>
              <a:t>Zettel</a:t>
            </a:r>
            <a:r>
              <a:rPr lang="fr-BE" sz="2400">
                <a:ea typeface="Calibri"/>
                <a:cs typeface="Calibri"/>
              </a:rPr>
              <a:t>), paper slips or cards, that may be linked to each other [...]. It has often been used as a system of note-taking and personal knowledge management for research, study, and </a:t>
            </a:r>
            <a:r>
              <a:rPr lang="fr-BE" sz="2400" err="1">
                <a:ea typeface="Calibri"/>
                <a:cs typeface="Calibri"/>
              </a:rPr>
              <a:t>writing</a:t>
            </a:r>
            <a:r>
              <a:rPr lang="fr-BE" sz="2400">
                <a:ea typeface="Calibri"/>
                <a:cs typeface="Calibri"/>
              </a:rPr>
              <a:t>." </a:t>
            </a:r>
            <a:r>
              <a:rPr lang="fr-BE" sz="2000">
                <a:ea typeface="Calibri"/>
                <a:cs typeface="Calibri"/>
              </a:rPr>
              <a:t>(</a:t>
            </a:r>
            <a:r>
              <a:rPr lang="fr-BE" sz="2000" err="1">
                <a:ea typeface="Calibri"/>
                <a:cs typeface="Calibri"/>
                <a:hlinkClick r:id="rId2"/>
              </a:rPr>
              <a:t>Wikipedia</a:t>
            </a:r>
            <a:r>
              <a:rPr lang="fr-BE" sz="2000">
                <a:ea typeface="Calibri"/>
                <a:cs typeface="Calibri"/>
              </a:rPr>
              <a:t>)</a:t>
            </a:r>
          </a:p>
          <a:p>
            <a:pPr marL="342900" indent="-342900">
              <a:buChar char="•"/>
            </a:pPr>
            <a:r>
              <a:rPr lang="fr-BE" sz="2400" err="1">
                <a:ea typeface="Calibri"/>
                <a:cs typeface="Calibri"/>
              </a:rPr>
              <a:t>Each</a:t>
            </a:r>
            <a:r>
              <a:rPr lang="fr-BE" sz="2400">
                <a:ea typeface="Calibri"/>
                <a:cs typeface="Calibri"/>
              </a:rPr>
              <a:t> item = one note on a note-</a:t>
            </a:r>
            <a:r>
              <a:rPr lang="fr-BE" sz="2400" err="1">
                <a:ea typeface="Calibri"/>
                <a:cs typeface="Calibri"/>
              </a:rPr>
              <a:t>taking</a:t>
            </a:r>
            <a:r>
              <a:rPr lang="fr-BE" sz="2400">
                <a:ea typeface="Calibri"/>
                <a:cs typeface="Calibri"/>
              </a:rPr>
              <a:t> app (like </a:t>
            </a:r>
            <a:r>
              <a:rPr lang="fr-BE" sz="2400" err="1">
                <a:ea typeface="Calibri"/>
                <a:cs typeface="Calibri"/>
              </a:rPr>
              <a:t>Obsidian</a:t>
            </a:r>
            <a:r>
              <a:rPr lang="fr-BE" sz="2400">
                <a:ea typeface="Calibri"/>
                <a:cs typeface="Calibri"/>
              </a:rPr>
              <a:t>, for </a:t>
            </a:r>
            <a:r>
              <a:rPr lang="fr-BE" sz="2400" err="1">
                <a:ea typeface="Calibri"/>
                <a:cs typeface="Calibri"/>
              </a:rPr>
              <a:t>example</a:t>
            </a:r>
            <a:r>
              <a:rPr lang="fr-BE" sz="2400">
                <a:ea typeface="Calibri"/>
                <a:cs typeface="Calibri"/>
              </a:rPr>
              <a:t>)</a:t>
            </a:r>
          </a:p>
          <a:p>
            <a:pPr marL="342900" indent="-342900">
              <a:buChar char="•"/>
            </a:pPr>
            <a:endParaRPr lang="fr-BE" sz="2400">
              <a:ea typeface="Calibri"/>
              <a:cs typeface="Calibri"/>
            </a:endParaRPr>
          </a:p>
        </p:txBody>
      </p:sp>
      <p:pic>
        <p:nvPicPr>
          <p:cNvPr id="5" name="Picture 4" descr="undefined">
            <a:extLst>
              <a:ext uri="{FF2B5EF4-FFF2-40B4-BE49-F238E27FC236}">
                <a16:creationId xmlns:a16="http://schemas.microsoft.com/office/drawing/2014/main" id="{63BD41EB-2488-2E8E-C2B8-6F514126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66" y="3033561"/>
            <a:ext cx="4718874" cy="354859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D3EA28B-F9AC-BF97-7066-49E14A9B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 err="1">
                <a:ea typeface="ＭＳ Ｐゴシック"/>
              </a:rPr>
              <a:t>Zettelkasten</a:t>
            </a:r>
            <a:r>
              <a:rPr lang="en-GB" sz="2800" b="1">
                <a:ea typeface="ＭＳ Ｐゴシック"/>
              </a:rPr>
              <a:t> ? What is this ?</a:t>
            </a:r>
            <a:endParaRPr lang="en-GB" sz="2800" b="1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D82404C6-0F38-1EFB-76EF-F7C90CDAFF04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3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7" name="Picture 6" descr="A System for Writing: How an Unconventional Approach to Note-Making Can  Help You Capture Ideas, Think Wildly, and Write Constantly - A Zettelkasten  Primer : Doto, Bob: Amazon.com.be: Livres">
            <a:extLst>
              <a:ext uri="{FF2B5EF4-FFF2-40B4-BE49-F238E27FC236}">
                <a16:creationId xmlns:a16="http://schemas.microsoft.com/office/drawing/2014/main" id="{6D4CBEEB-BD94-3347-12B1-1A581E091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082" y="3170297"/>
            <a:ext cx="2120355" cy="327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3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3BA97-4FA3-4F4D-7570-D773997F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8FB95-C57A-32E9-CD9A-F272F4B3A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8859" y="847608"/>
            <a:ext cx="6748875" cy="1506186"/>
          </a:xfrm>
        </p:spPr>
        <p:txBody>
          <a:bodyPr lIns="91440" tIns="45720" rIns="91440" bIns="45720" anchor="t"/>
          <a:lstStyle/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"A </a:t>
            </a:r>
            <a:r>
              <a:rPr lang="fr-BE" sz="2400" err="1">
                <a:ea typeface="Calibri"/>
                <a:cs typeface="Calibri"/>
              </a:rPr>
              <a:t>reference</a:t>
            </a:r>
            <a:r>
              <a:rPr lang="fr-BE" sz="2400">
                <a:ea typeface="Calibri"/>
                <a:cs typeface="Calibri"/>
              </a:rPr>
              <a:t> note </a:t>
            </a:r>
            <a:r>
              <a:rPr lang="fr-BE" sz="2400" err="1">
                <a:ea typeface="Calibri"/>
                <a:cs typeface="Calibri"/>
              </a:rPr>
              <a:t>is</a:t>
            </a:r>
            <a:r>
              <a:rPr lang="fr-BE" sz="2400">
                <a:ea typeface="Calibri"/>
                <a:cs typeface="Calibri"/>
              </a:rPr>
              <a:t> a single long-note </a:t>
            </a:r>
            <a:r>
              <a:rPr lang="fr-BE" sz="2400" err="1">
                <a:ea typeface="Calibri"/>
                <a:cs typeface="Calibri"/>
              </a:rPr>
              <a:t>containing</a:t>
            </a:r>
            <a:r>
              <a:rPr lang="fr-BE" sz="2400">
                <a:ea typeface="Calibri"/>
                <a:cs typeface="Calibri"/>
              </a:rPr>
              <a:t> brief citation or "</a:t>
            </a:r>
            <a:r>
              <a:rPr lang="fr-BE" sz="2400" err="1">
                <a:ea typeface="Calibri"/>
                <a:cs typeface="Calibri"/>
              </a:rPr>
              <a:t>references</a:t>
            </a:r>
            <a:r>
              <a:rPr lang="fr-BE" sz="2400">
                <a:ea typeface="Calibri"/>
                <a:cs typeface="Calibri"/>
              </a:rPr>
              <a:t>" to </a:t>
            </a:r>
            <a:r>
              <a:rPr lang="fr-BE" sz="2400" err="1">
                <a:ea typeface="Calibri"/>
                <a:cs typeface="Calibri"/>
              </a:rPr>
              <a:t>what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cought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your</a:t>
            </a:r>
            <a:r>
              <a:rPr lang="fr-BE" sz="2400">
                <a:ea typeface="Calibri"/>
                <a:cs typeface="Calibri"/>
              </a:rPr>
              <a:t> attention </a:t>
            </a:r>
            <a:r>
              <a:rPr lang="fr-BE" sz="2400" err="1">
                <a:ea typeface="Calibri"/>
                <a:cs typeface="Calibri"/>
              </a:rPr>
              <a:t>while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reading</a:t>
            </a:r>
            <a:r>
              <a:rPr lang="fr-BE" sz="2400">
                <a:ea typeface="Calibri"/>
                <a:cs typeface="Calibri"/>
              </a:rPr>
              <a:t> [...]." </a:t>
            </a:r>
            <a:r>
              <a:rPr lang="fr-BE" sz="2000">
                <a:ea typeface="Calibri"/>
                <a:cs typeface="Calibri"/>
              </a:rPr>
              <a:t>(A System for </a:t>
            </a:r>
            <a:r>
              <a:rPr lang="fr-BE" sz="2000" err="1">
                <a:ea typeface="Calibri"/>
                <a:cs typeface="Calibri"/>
              </a:rPr>
              <a:t>writing</a:t>
            </a:r>
            <a:r>
              <a:rPr lang="fr-BE" sz="2000">
                <a:ea typeface="Calibri"/>
                <a:cs typeface="Calibri"/>
              </a:rPr>
              <a:t>, p. 15)</a:t>
            </a:r>
          </a:p>
          <a:p>
            <a:pPr marL="342900" indent="-342900">
              <a:buChar char="•"/>
            </a:pPr>
            <a:endParaRPr lang="fr-BE" sz="2400"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B65866-2BCF-3B40-8086-3D3F42CA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Reference notes</a:t>
            </a:r>
            <a:endParaRPr lang="en-GB" sz="2800" b="1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4F33A71D-3711-233C-199E-CC06F98A2EA5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4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AA709-EF92-7DA9-42DB-2FDC72BF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84" y="1044222"/>
            <a:ext cx="4299575" cy="5136445"/>
          </a:xfrm>
          <a:prstGeom prst="rect">
            <a:avLst/>
          </a:prstGeom>
        </p:spPr>
      </p:pic>
      <p:pic>
        <p:nvPicPr>
          <p:cNvPr id="7" name="Picture 6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2E38D55-DC9D-1127-F5DD-CFB356440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992" y="2347794"/>
            <a:ext cx="5269795" cy="396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4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FCC0-F8F5-AD21-FF9F-720D4CF4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B7A8E-A971-9B3A-7EDE-71DB9CC92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48097"/>
            <a:ext cx="11368644" cy="3301655"/>
          </a:xfrm>
        </p:spPr>
        <p:txBody>
          <a:bodyPr lIns="91440" tIns="45720" rIns="91440" bIns="45720" anchor="t"/>
          <a:lstStyle/>
          <a:p>
            <a:pPr marL="342900" indent="-342900">
              <a:buChar char="•"/>
            </a:pPr>
            <a:r>
              <a:rPr lang="fr-BE" sz="2400">
                <a:latin typeface="Calibri"/>
                <a:ea typeface="Calibri"/>
                <a:cs typeface="Calibri"/>
              </a:rPr>
              <a:t>How to </a:t>
            </a:r>
            <a:r>
              <a:rPr lang="fr-BE" sz="2400" err="1">
                <a:latin typeface="Calibri"/>
                <a:ea typeface="Calibri"/>
                <a:cs typeface="Calibri"/>
              </a:rPr>
              <a:t>take</a:t>
            </a:r>
            <a:r>
              <a:rPr lang="fr-BE" sz="2400">
                <a:latin typeface="Calibri"/>
                <a:ea typeface="Calibri"/>
                <a:cs typeface="Calibri"/>
              </a:rPr>
              <a:t> </a:t>
            </a:r>
            <a:r>
              <a:rPr lang="fr-BE" sz="2400" err="1">
                <a:latin typeface="Calibri"/>
                <a:ea typeface="Calibri"/>
                <a:cs typeface="Calibri"/>
              </a:rPr>
              <a:t>reference</a:t>
            </a:r>
            <a:r>
              <a:rPr lang="fr-BE" sz="2400">
                <a:latin typeface="Calibri"/>
                <a:ea typeface="Calibri"/>
                <a:cs typeface="Calibri"/>
              </a:rPr>
              <a:t> notes ?</a:t>
            </a:r>
          </a:p>
          <a:p>
            <a:pPr marL="1062355" lvl="1">
              <a:buFont typeface="Courier New"/>
              <a:buChar char="o"/>
            </a:pP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Create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a new note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with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reference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of the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paper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you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are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reading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OR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take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notes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directly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within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the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paper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1062355" lvl="1">
              <a:buFont typeface="Courier New"/>
              <a:buChar char="o"/>
            </a:pP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Begin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reading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 the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paper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with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purpose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in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mind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(for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your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trying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to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understand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research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domain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)</a:t>
            </a:r>
            <a:endParaRPr lang="fr-BE" sz="1800">
              <a:latin typeface="Calibri"/>
              <a:ea typeface="Calibri"/>
              <a:cs typeface="Calibri"/>
            </a:endParaRPr>
          </a:p>
          <a:p>
            <a:pPr marL="1062355" lvl="1">
              <a:buFont typeface="Courier New"/>
              <a:buChar char="o"/>
            </a:pP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When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a passage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speaks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to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you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write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the page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number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+ brief description of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what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is</a:t>
            </a:r>
            <a:r>
              <a:rPr lang="fr-BE" sz="1800" b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b="1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said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(+ the relation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with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your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thinking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342900" indent="-342900">
              <a:buFont typeface="Arial"/>
              <a:buChar char="•"/>
            </a:pPr>
            <a:r>
              <a:rPr lang="fr-BE" sz="2400" err="1">
                <a:latin typeface="Calibri"/>
                <a:ea typeface="Calibri"/>
                <a:cs typeface="Calibri"/>
              </a:rPr>
              <a:t>Things</a:t>
            </a:r>
            <a:r>
              <a:rPr lang="fr-BE" sz="2400">
                <a:latin typeface="Calibri"/>
                <a:ea typeface="Calibri"/>
                <a:cs typeface="Calibri"/>
              </a:rPr>
              <a:t> to </a:t>
            </a:r>
            <a:r>
              <a:rPr lang="fr-BE" sz="2400" err="1">
                <a:latin typeface="Calibri"/>
                <a:ea typeface="Calibri"/>
                <a:cs typeface="Calibri"/>
              </a:rPr>
              <a:t>remember</a:t>
            </a:r>
            <a:r>
              <a:rPr lang="fr-BE" sz="2400">
                <a:latin typeface="Calibri"/>
                <a:ea typeface="Calibri"/>
                <a:cs typeface="Calibri"/>
              </a:rPr>
              <a:t> :</a:t>
            </a:r>
          </a:p>
          <a:p>
            <a:pPr marL="1062355" lvl="1">
              <a:buFont typeface="Courier New"/>
              <a:buChar char="o"/>
            </a:pP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Read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with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problem</a:t>
            </a:r>
            <a:r>
              <a:rPr lang="fr-BE" sz="18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 or a question in </a:t>
            </a:r>
            <a:r>
              <a:rPr lang="fr-BE" sz="1800" err="1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mind</a:t>
            </a:r>
            <a:endParaRPr lang="fr-BE" sz="1800" err="1">
              <a:latin typeface="Calibri"/>
              <a:ea typeface="Calibri"/>
              <a:cs typeface="Calibri"/>
            </a:endParaRPr>
          </a:p>
          <a:p>
            <a:pPr marL="1062355" lvl="1">
              <a:buFont typeface="Courier New"/>
              <a:buChar char="o"/>
            </a:pPr>
            <a:r>
              <a:rPr lang="fr-BE" sz="1800">
                <a:latin typeface="Calibri"/>
                <a:ea typeface="Calibri"/>
                <a:cs typeface="Calibri"/>
              </a:rPr>
              <a:t>Capture </a:t>
            </a:r>
            <a:r>
              <a:rPr lang="fr-BE" sz="1800" err="1">
                <a:latin typeface="Calibri"/>
                <a:ea typeface="Calibri"/>
                <a:cs typeface="Calibri"/>
              </a:rPr>
              <a:t>ideas</a:t>
            </a:r>
            <a:r>
              <a:rPr lang="fr-BE" sz="180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you</a:t>
            </a:r>
            <a:r>
              <a:rPr lang="fr-BE" sz="180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disagree</a:t>
            </a:r>
            <a:r>
              <a:rPr lang="fr-BE" sz="180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with</a:t>
            </a:r>
            <a:endParaRPr lang="fr-BE" sz="1800">
              <a:latin typeface="Calibri"/>
              <a:ea typeface="Calibri"/>
              <a:cs typeface="Calibri"/>
            </a:endParaRPr>
          </a:p>
          <a:p>
            <a:pPr marL="1062355" lvl="1">
              <a:buFont typeface="Courier New"/>
              <a:buChar char="o"/>
            </a:pPr>
            <a:r>
              <a:rPr lang="fr-BE" sz="1800">
                <a:latin typeface="Calibri"/>
                <a:ea typeface="Calibri"/>
                <a:cs typeface="Calibri"/>
              </a:rPr>
              <a:t>Capture </a:t>
            </a:r>
            <a:r>
              <a:rPr lang="fr-BE" sz="1800" err="1">
                <a:latin typeface="Calibri"/>
                <a:ea typeface="Calibri"/>
                <a:cs typeface="Calibri"/>
              </a:rPr>
              <a:t>what</a:t>
            </a:r>
            <a:r>
              <a:rPr lang="fr-BE" sz="180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you</a:t>
            </a:r>
            <a:r>
              <a:rPr lang="fr-BE" sz="180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think</a:t>
            </a:r>
            <a:r>
              <a:rPr lang="fr-BE" sz="1800">
                <a:latin typeface="Calibri"/>
                <a:ea typeface="Calibri"/>
                <a:cs typeface="Calibri"/>
              </a:rPr>
              <a:t> about </a:t>
            </a:r>
            <a:r>
              <a:rPr lang="fr-BE" sz="1800" err="1">
                <a:latin typeface="Calibri"/>
                <a:ea typeface="Calibri"/>
                <a:cs typeface="Calibri"/>
              </a:rPr>
              <a:t>what</a:t>
            </a:r>
            <a:r>
              <a:rPr lang="fr-BE" sz="1800">
                <a:latin typeface="Calibri"/>
                <a:ea typeface="Calibri"/>
                <a:cs typeface="Calibri"/>
              </a:rPr>
              <a:t> the </a:t>
            </a:r>
            <a:r>
              <a:rPr lang="fr-BE" sz="1800" err="1">
                <a:latin typeface="Calibri"/>
                <a:ea typeface="Calibri"/>
                <a:cs typeface="Calibri"/>
              </a:rPr>
              <a:t>author</a:t>
            </a:r>
            <a:r>
              <a:rPr lang="fr-BE" sz="180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thinks</a:t>
            </a:r>
            <a:endParaRPr lang="fr-BE" sz="1800">
              <a:latin typeface="Calibri"/>
              <a:ea typeface="Calibri"/>
              <a:cs typeface="Calibri"/>
            </a:endParaRPr>
          </a:p>
          <a:p>
            <a:pPr marL="1062355" lvl="1">
              <a:buFont typeface="Courier New"/>
              <a:buChar char="o"/>
            </a:pPr>
            <a:r>
              <a:rPr lang="fr-BE" sz="1800">
                <a:latin typeface="Calibri"/>
                <a:ea typeface="Calibri"/>
                <a:cs typeface="Calibri"/>
              </a:rPr>
              <a:t>Not all notes are gold</a:t>
            </a:r>
          </a:p>
          <a:p>
            <a:pPr marL="342900" indent="-342900">
              <a:buChar char="•"/>
            </a:pPr>
            <a:endParaRPr lang="fr-BE" sz="2400"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B1856B-098A-4F62-F81F-F0BF7E37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Reference notes</a:t>
            </a:r>
            <a:endParaRPr lang="en-GB" sz="2800" b="1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F5218B3A-5F28-8A64-8EB3-437F3798ABF4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5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366844-4391-2E17-BC3F-6932F29004A4}"/>
              </a:ext>
            </a:extLst>
          </p:cNvPr>
          <p:cNvGrpSpPr/>
          <p:nvPr/>
        </p:nvGrpSpPr>
        <p:grpSpPr>
          <a:xfrm>
            <a:off x="855505" y="4362454"/>
            <a:ext cx="10479652" cy="2019691"/>
            <a:chOff x="855505" y="4273389"/>
            <a:chExt cx="10479652" cy="2019691"/>
          </a:xfrm>
        </p:grpSpPr>
        <p:pic>
          <p:nvPicPr>
            <p:cNvPr id="8" name="Picture 7" descr="A screenshot of a web page&#10;&#10;AI-generated content may be incorrect.">
              <a:extLst>
                <a:ext uri="{FF2B5EF4-FFF2-40B4-BE49-F238E27FC236}">
                  <a16:creationId xmlns:a16="http://schemas.microsoft.com/office/drawing/2014/main" id="{6C4A1D45-AFE4-CAE8-9185-E7980A4A1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5974" r="-196"/>
            <a:stretch>
              <a:fillRect/>
            </a:stretch>
          </p:blipFill>
          <p:spPr>
            <a:xfrm>
              <a:off x="855505" y="4273389"/>
              <a:ext cx="7905917" cy="2019691"/>
            </a:xfrm>
            <a:prstGeom prst="rect">
              <a:avLst/>
            </a:prstGeom>
          </p:spPr>
        </p:pic>
        <p:sp>
          <p:nvSpPr>
            <p:cNvPr id="10" name="Arrow: Left 9">
              <a:extLst>
                <a:ext uri="{FF2B5EF4-FFF2-40B4-BE49-F238E27FC236}">
                  <a16:creationId xmlns:a16="http://schemas.microsoft.com/office/drawing/2014/main" id="{AC5122BE-19EB-8860-215D-3A7A76D3A2D3}"/>
                </a:ext>
              </a:extLst>
            </p:cNvPr>
            <p:cNvSpPr/>
            <p:nvPr/>
          </p:nvSpPr>
          <p:spPr>
            <a:xfrm>
              <a:off x="8241617" y="5481694"/>
              <a:ext cx="1215245" cy="227199"/>
            </a:xfrm>
            <a:prstGeom prst="lef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Left 11">
              <a:extLst>
                <a:ext uri="{FF2B5EF4-FFF2-40B4-BE49-F238E27FC236}">
                  <a16:creationId xmlns:a16="http://schemas.microsoft.com/office/drawing/2014/main" id="{AC5122BE-19EB-8860-215D-3A7A76D3A2D3}"/>
                </a:ext>
              </a:extLst>
            </p:cNvPr>
            <p:cNvSpPr/>
            <p:nvPr/>
          </p:nvSpPr>
          <p:spPr>
            <a:xfrm>
              <a:off x="4884698" y="5986261"/>
              <a:ext cx="1215245" cy="227200"/>
            </a:xfrm>
            <a:prstGeom prst="lef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AF5712-0AF7-D734-224C-04CFB79F3138}"/>
                </a:ext>
              </a:extLst>
            </p:cNvPr>
            <p:cNvSpPr txBox="1"/>
            <p:nvPr/>
          </p:nvSpPr>
          <p:spPr>
            <a:xfrm>
              <a:off x="9452919" y="5436972"/>
              <a:ext cx="1882238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>
                  <a:solidFill>
                    <a:srgbClr val="00B050"/>
                  </a:solidFill>
                  <a:latin typeface="Verdana"/>
                  <a:ea typeface="Verdana"/>
                  <a:cs typeface="Calibri"/>
                </a:rPr>
                <a:t>Brief description</a:t>
              </a:r>
              <a:endParaRPr lang="en-US" sz="1400" b="1">
                <a:solidFill>
                  <a:srgbClr val="00B050"/>
                </a:solidFill>
                <a:latin typeface="Verdana"/>
                <a:ea typeface="Verdan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CE98D59-FA3A-4524-6714-21EEBD1600E5}"/>
                </a:ext>
              </a:extLst>
            </p:cNvPr>
            <p:cNvSpPr txBox="1"/>
            <p:nvPr/>
          </p:nvSpPr>
          <p:spPr>
            <a:xfrm>
              <a:off x="6096001" y="5982728"/>
              <a:ext cx="292855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400" b="1">
                  <a:solidFill>
                    <a:srgbClr val="00B050"/>
                  </a:solidFill>
                  <a:latin typeface="Verdana"/>
                  <a:ea typeface="Verdana"/>
                  <a:cs typeface="Calibri"/>
                </a:rPr>
                <a:t>Relation with my thinking</a:t>
              </a:r>
              <a:endParaRPr lang="en-US" b="1">
                <a:solidFill>
                  <a:srgbClr val="00B050"/>
                </a:solidFill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067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F4A6E-F021-E629-C536-7C839204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3DDF5-475C-7746-8022-4C7DD0466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83261"/>
          </a:xfrm>
        </p:spPr>
        <p:txBody>
          <a:bodyPr lIns="91440" tIns="45720" rIns="91440" bIns="45720" anchor="t"/>
          <a:lstStyle/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Most of the time, we stop at the previous stage</a:t>
            </a:r>
            <a:endParaRPr lang="en-US"/>
          </a:p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BUT the idea of a Zettelkasten is to use the references notes to create knowledge and new ideas</a:t>
            </a:r>
            <a:endParaRPr lang="fr-BE"/>
          </a:p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"Main notes are what your passing captures become. [...] They're the fundamental building blocks of your future writing and the primary components with which you will develop and challenge your thinking." </a:t>
            </a:r>
            <a:r>
              <a:rPr lang="fr-BE" sz="2000">
                <a:ea typeface="Calibri"/>
                <a:cs typeface="Calibri"/>
              </a:rPr>
              <a:t>(A System for writing, p. 35)</a:t>
            </a:r>
            <a:endParaRPr lang="fr-BE" sz="2400">
              <a:ea typeface="Calibri"/>
              <a:cs typeface="Calibri"/>
            </a:endParaRPr>
          </a:p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Main notes are composed of:</a:t>
            </a:r>
            <a:endParaRPr lang="fr-BE"/>
          </a:p>
          <a:p>
            <a:pPr marL="1062355" lvl="1">
              <a:buFont typeface="Courier New"/>
              <a:buChar char="o"/>
            </a:pPr>
            <a:r>
              <a:rPr lang="fr-BE" sz="2000" b="1">
                <a:latin typeface="Calibri"/>
                <a:ea typeface="Calibri"/>
                <a:cs typeface="Calibri"/>
              </a:rPr>
              <a:t>A single </a:t>
            </a:r>
            <a:r>
              <a:rPr lang="fr-BE" sz="2000" b="1" err="1">
                <a:latin typeface="Calibri"/>
                <a:ea typeface="Calibri"/>
                <a:cs typeface="Calibri"/>
              </a:rPr>
              <a:t>idea</a:t>
            </a:r>
            <a:r>
              <a:rPr lang="fr-BE" sz="2000">
                <a:latin typeface="Calibri"/>
                <a:ea typeface="Calibri"/>
                <a:cs typeface="Calibri"/>
              </a:rPr>
              <a:t>, </a:t>
            </a:r>
            <a:r>
              <a:rPr lang="fr-BE" sz="2000" err="1">
                <a:latin typeface="Calibri"/>
                <a:ea typeface="Calibri"/>
                <a:cs typeface="Calibri"/>
              </a:rPr>
              <a:t>expressed</a:t>
            </a:r>
            <a:r>
              <a:rPr lang="fr-BE" sz="2000">
                <a:latin typeface="Calibri"/>
                <a:ea typeface="Calibri"/>
                <a:cs typeface="Calibri"/>
              </a:rPr>
              <a:t> in </a:t>
            </a:r>
            <a:r>
              <a:rPr lang="fr-BE" sz="2000" err="1">
                <a:latin typeface="Calibri"/>
                <a:ea typeface="Calibri"/>
                <a:cs typeface="Calibri"/>
              </a:rPr>
              <a:t>your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own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words</a:t>
            </a:r>
            <a:r>
              <a:rPr lang="fr-BE" sz="2000">
                <a:latin typeface="Calibri"/>
                <a:ea typeface="Calibri"/>
                <a:cs typeface="Calibri"/>
              </a:rPr>
              <a:t>, in </a:t>
            </a:r>
            <a:r>
              <a:rPr lang="fr-BE" sz="2000" err="1">
                <a:latin typeface="Calibri"/>
                <a:ea typeface="Calibri"/>
                <a:cs typeface="Calibri"/>
              </a:rPr>
              <a:t>terms</a:t>
            </a:r>
            <a:r>
              <a:rPr lang="fr-BE" sz="2000">
                <a:latin typeface="Calibri"/>
                <a:ea typeface="Calibri"/>
                <a:cs typeface="Calibri"/>
              </a:rPr>
              <a:t> relevant to </a:t>
            </a:r>
            <a:r>
              <a:rPr lang="fr-BE" sz="2000" err="1">
                <a:latin typeface="Calibri"/>
                <a:ea typeface="Calibri"/>
                <a:cs typeface="Calibri"/>
              </a:rPr>
              <a:t>your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interests</a:t>
            </a:r>
          </a:p>
          <a:p>
            <a:pPr marL="1062355" lvl="1">
              <a:buFont typeface="Courier New"/>
              <a:buChar char="o"/>
            </a:pPr>
            <a:r>
              <a:rPr lang="fr-BE" sz="2000" b="1" err="1">
                <a:latin typeface="Calibri"/>
                <a:ea typeface="Calibri"/>
                <a:cs typeface="Calibri"/>
              </a:rPr>
              <a:t>Contextual</a:t>
            </a:r>
            <a:r>
              <a:rPr lang="fr-BE" sz="2000" b="1">
                <a:latin typeface="Calibri"/>
                <a:ea typeface="Calibri"/>
                <a:cs typeface="Calibri"/>
              </a:rPr>
              <a:t> links to </a:t>
            </a:r>
            <a:r>
              <a:rPr lang="fr-BE" sz="2000" b="1" err="1">
                <a:latin typeface="Calibri"/>
                <a:ea typeface="Calibri"/>
                <a:cs typeface="Calibri"/>
              </a:rPr>
              <a:t>other</a:t>
            </a:r>
            <a:r>
              <a:rPr lang="fr-BE" sz="2000" b="1">
                <a:latin typeface="Calibri"/>
                <a:ea typeface="Calibri"/>
                <a:cs typeface="Calibri"/>
              </a:rPr>
              <a:t> </a:t>
            </a:r>
            <a:r>
              <a:rPr lang="fr-BE" sz="2000" b="1" err="1">
                <a:latin typeface="Calibri"/>
                <a:ea typeface="Calibri"/>
                <a:cs typeface="Calibri"/>
              </a:rPr>
              <a:t>ideas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stored</a:t>
            </a:r>
            <a:r>
              <a:rPr lang="fr-BE" sz="2000">
                <a:latin typeface="Calibri"/>
                <a:ea typeface="Calibri"/>
                <a:cs typeface="Calibri"/>
              </a:rPr>
              <a:t> in </a:t>
            </a:r>
            <a:r>
              <a:rPr lang="fr-BE" sz="2000" err="1">
                <a:latin typeface="Calibri"/>
                <a:ea typeface="Calibri"/>
                <a:cs typeface="Calibri"/>
              </a:rPr>
              <a:t>your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Zettelkasten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that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establish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various</a:t>
            </a:r>
            <a:r>
              <a:rPr lang="fr-BE" sz="2000">
                <a:latin typeface="Calibri"/>
                <a:ea typeface="Calibri"/>
                <a:cs typeface="Calibri"/>
              </a:rPr>
              <a:t> trains of </a:t>
            </a:r>
            <a:r>
              <a:rPr lang="fr-BE" sz="2000" err="1">
                <a:latin typeface="Calibri"/>
                <a:ea typeface="Calibri"/>
                <a:cs typeface="Calibri"/>
              </a:rPr>
              <a:t>thoughts</a:t>
            </a:r>
            <a:r>
              <a:rPr lang="fr-BE" sz="2000">
                <a:latin typeface="Calibri"/>
                <a:ea typeface="Calibri"/>
                <a:cs typeface="Calibri"/>
              </a:rPr>
              <a:t> or arguments</a:t>
            </a:r>
          </a:p>
          <a:p>
            <a:pPr marL="1062355" lvl="1">
              <a:buFont typeface="Courier New"/>
              <a:buChar char="o"/>
            </a:pPr>
            <a:r>
              <a:rPr lang="fr-BE" sz="2000" b="1">
                <a:latin typeface="Calibri"/>
                <a:ea typeface="Calibri"/>
                <a:cs typeface="Calibri"/>
              </a:rPr>
              <a:t>A </a:t>
            </a:r>
            <a:r>
              <a:rPr lang="fr-BE" sz="2000" b="1" err="1">
                <a:latin typeface="Calibri"/>
                <a:ea typeface="Calibri"/>
                <a:cs typeface="Calibri"/>
              </a:rPr>
              <a:t>quote</a:t>
            </a:r>
            <a:r>
              <a:rPr lang="fr-BE" sz="2000" b="1">
                <a:latin typeface="Calibri"/>
                <a:ea typeface="Calibri"/>
                <a:cs typeface="Calibri"/>
              </a:rPr>
              <a:t> or </a:t>
            </a:r>
            <a:r>
              <a:rPr lang="fr-BE" sz="2000" b="1" err="1">
                <a:latin typeface="Calibri"/>
                <a:ea typeface="Calibri"/>
                <a:cs typeface="Calibri"/>
              </a:rPr>
              <a:t>reference</a:t>
            </a:r>
            <a:r>
              <a:rPr lang="fr-BE" sz="2000">
                <a:latin typeface="Calibri"/>
                <a:ea typeface="Calibri"/>
                <a:cs typeface="Calibri"/>
              </a:rPr>
              <a:t> to </a:t>
            </a:r>
            <a:r>
              <a:rPr lang="fr-BE" sz="2000" err="1">
                <a:latin typeface="Calibri"/>
                <a:ea typeface="Calibri"/>
                <a:cs typeface="Calibri"/>
              </a:rPr>
              <a:t>where</a:t>
            </a:r>
            <a:r>
              <a:rPr lang="fr-BE" sz="2000">
                <a:latin typeface="Calibri"/>
                <a:ea typeface="Calibri"/>
                <a:cs typeface="Calibri"/>
              </a:rPr>
              <a:t> the </a:t>
            </a:r>
            <a:r>
              <a:rPr lang="fr-BE" sz="2000" err="1">
                <a:latin typeface="Calibri"/>
                <a:ea typeface="Calibri"/>
                <a:cs typeface="Calibri"/>
              </a:rPr>
              <a:t>idea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comes</a:t>
            </a:r>
            <a:r>
              <a:rPr lang="fr-BE" sz="2000">
                <a:latin typeface="Calibri"/>
                <a:ea typeface="Calibri"/>
                <a:cs typeface="Calibri"/>
              </a:rPr>
              <a:t> </a:t>
            </a:r>
            <a:r>
              <a:rPr lang="fr-BE" sz="2000" err="1">
                <a:latin typeface="Calibri"/>
                <a:ea typeface="Calibri"/>
                <a:cs typeface="Calibri"/>
              </a:rPr>
              <a:t>from</a:t>
            </a:r>
          </a:p>
          <a:p>
            <a:pPr marL="1062355" lvl="1">
              <a:buFont typeface="Courier New"/>
              <a:buChar char="o"/>
            </a:pPr>
            <a:r>
              <a:rPr lang="fr-BE" sz="2000">
                <a:latin typeface="Calibri"/>
                <a:ea typeface="Calibri"/>
                <a:cs typeface="Calibri"/>
              </a:rPr>
              <a:t>(Tags)</a:t>
            </a:r>
          </a:p>
          <a:p>
            <a:pPr marL="342900" indent="-342900">
              <a:buChar char="•"/>
            </a:pPr>
            <a:endParaRPr lang="fr-BE" sz="2400"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5814DC-6B53-F14A-D404-3C498B49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Main notes</a:t>
            </a:r>
            <a:endParaRPr lang="en-GB" sz="2800" b="1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59AAB456-57ED-528E-BAC3-73BBCD0EA333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6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254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2D18-8985-0844-CCB0-5210C36A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732984-B88C-3D0A-43BE-8EDC3A6C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Main notes</a:t>
            </a:r>
            <a:endParaRPr lang="en-GB" sz="2800" b="1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7C20CCDB-BE68-3054-9FE3-FA5F72E5D40E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7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E1B3E7-2B83-AC85-FC85-356709E2D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465" y="190929"/>
            <a:ext cx="4839704" cy="6219107"/>
          </a:xfrm>
          <a:prstGeom prst="rect">
            <a:avLst/>
          </a:prstGeom>
        </p:spPr>
      </p:pic>
      <p:sp>
        <p:nvSpPr>
          <p:cNvPr id="10" name="Arrow: Left 9">
            <a:extLst>
              <a:ext uri="{FF2B5EF4-FFF2-40B4-BE49-F238E27FC236}">
                <a16:creationId xmlns:a16="http://schemas.microsoft.com/office/drawing/2014/main" id="{B47A42CD-8E5B-D8CD-6299-0734DA4DE1F7}"/>
              </a:ext>
            </a:extLst>
          </p:cNvPr>
          <p:cNvSpPr/>
          <p:nvPr/>
        </p:nvSpPr>
        <p:spPr>
          <a:xfrm rot="10800000">
            <a:off x="5028860" y="2732965"/>
            <a:ext cx="1215245" cy="227199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6ADCD350-B6E6-1896-0393-161425C3B97C}"/>
              </a:ext>
            </a:extLst>
          </p:cNvPr>
          <p:cNvSpPr/>
          <p:nvPr/>
        </p:nvSpPr>
        <p:spPr>
          <a:xfrm rot="10800000">
            <a:off x="5031453" y="3810968"/>
            <a:ext cx="1215245" cy="227199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16EF5B99-CB97-CCBC-991B-002974B2748C}"/>
              </a:ext>
            </a:extLst>
          </p:cNvPr>
          <p:cNvSpPr/>
          <p:nvPr/>
        </p:nvSpPr>
        <p:spPr>
          <a:xfrm rot="10800000">
            <a:off x="5031453" y="6072294"/>
            <a:ext cx="1215245" cy="227199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9828C-19D3-CB89-7FCB-AA393139491A}"/>
              </a:ext>
            </a:extLst>
          </p:cNvPr>
          <p:cNvSpPr txBox="1"/>
          <p:nvPr/>
        </p:nvSpPr>
        <p:spPr>
          <a:xfrm>
            <a:off x="3649844" y="2686515"/>
            <a:ext cx="13843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00B050"/>
                </a:solidFill>
                <a:latin typeface="Verdana"/>
                <a:ea typeface="Verdana"/>
                <a:cs typeface="Calibri"/>
              </a:rPr>
              <a:t>Single idea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2BB8A4-471C-8E10-528A-92CF0DE890BB}"/>
              </a:ext>
            </a:extLst>
          </p:cNvPr>
          <p:cNvSpPr txBox="1"/>
          <p:nvPr/>
        </p:nvSpPr>
        <p:spPr>
          <a:xfrm>
            <a:off x="1637900" y="3762482"/>
            <a:ext cx="348149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00B050"/>
                </a:solidFill>
                <a:latin typeface="Verdana"/>
                <a:ea typeface="Verdana"/>
                <a:cs typeface="Calibri"/>
              </a:rPr>
              <a:t>Quote + reference of the quote</a:t>
            </a:r>
            <a:endParaRPr lang="en-US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4AF5712-0AF7-D734-224C-04CFB79F3138}"/>
              </a:ext>
            </a:extLst>
          </p:cNvPr>
          <p:cNvSpPr txBox="1"/>
          <p:nvPr/>
        </p:nvSpPr>
        <p:spPr>
          <a:xfrm>
            <a:off x="202428" y="5890291"/>
            <a:ext cx="492083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rgbClr val="00B050"/>
                </a:solidFill>
                <a:latin typeface="Verdana"/>
                <a:ea typeface="Verdana"/>
                <a:cs typeface="Calibri"/>
              </a:rPr>
              <a:t>Contextual link to another idea + explanation of why this is relevant to link those two ideas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7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64000-F301-90C9-C69F-C88B0907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8839C-1F4B-DBCA-CF4C-1038490DF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5757"/>
            <a:ext cx="10972800" cy="5453821"/>
          </a:xfrm>
        </p:spPr>
        <p:txBody>
          <a:bodyPr lIns="91440" tIns="45720" rIns="91440" bIns="45720" anchor="t"/>
          <a:lstStyle/>
          <a:p>
            <a:pPr marL="457200" indent="-457200">
              <a:buAutoNum type="arabicPeriod"/>
            </a:pPr>
            <a:r>
              <a:rPr lang="fr-BE" sz="2400" b="1" dirty="0">
                <a:latin typeface="Calibri"/>
                <a:ea typeface="Calibri"/>
                <a:cs typeface="Calibri"/>
              </a:rPr>
              <a:t>Retype, copy/paste, or </a:t>
            </a:r>
            <a:r>
              <a:rPr lang="fr-BE" sz="2400" b="1" dirty="0" err="1">
                <a:latin typeface="Calibri"/>
                <a:ea typeface="Calibri"/>
                <a:cs typeface="Calibri"/>
              </a:rPr>
              <a:t>reference</a:t>
            </a:r>
            <a:r>
              <a:rPr lang="fr-BE" sz="2400" b="1" dirty="0">
                <a:latin typeface="Calibri"/>
                <a:ea typeface="Calibri"/>
                <a:cs typeface="Calibri"/>
              </a:rPr>
              <a:t> the </a:t>
            </a:r>
            <a:r>
              <a:rPr lang="fr-BE" sz="2400" b="1" dirty="0" err="1">
                <a:latin typeface="Calibri"/>
                <a:ea typeface="Calibri"/>
                <a:cs typeface="Calibri"/>
              </a:rPr>
              <a:t>quote</a:t>
            </a:r>
            <a:r>
              <a:rPr lang="fr-BE" sz="2400" b="1" dirty="0">
                <a:latin typeface="Calibri"/>
                <a:ea typeface="Calibri"/>
                <a:cs typeface="Calibri"/>
              </a:rPr>
              <a:t> </a:t>
            </a:r>
            <a:r>
              <a:rPr lang="fr-BE" sz="2400" b="1" dirty="0" err="1">
                <a:latin typeface="Calibri"/>
                <a:ea typeface="Calibri"/>
                <a:cs typeface="Calibri"/>
              </a:rPr>
              <a:t>you</a:t>
            </a:r>
            <a:r>
              <a:rPr lang="fr-BE" sz="2400" b="1" dirty="0">
                <a:latin typeface="Calibri"/>
                <a:ea typeface="Calibri"/>
                <a:cs typeface="Calibri"/>
              </a:rPr>
              <a:t> </a:t>
            </a:r>
            <a:r>
              <a:rPr lang="fr-BE" sz="2400" b="1" dirty="0" err="1">
                <a:latin typeface="Calibri"/>
                <a:ea typeface="Calibri"/>
                <a:cs typeface="Calibri"/>
              </a:rPr>
              <a:t>want</a:t>
            </a:r>
            <a:r>
              <a:rPr lang="fr-BE" sz="2400" b="1" dirty="0">
                <a:latin typeface="Calibri"/>
                <a:ea typeface="Calibri"/>
                <a:cs typeface="Calibri"/>
              </a:rPr>
              <a:t> to comment</a:t>
            </a:r>
            <a:r>
              <a:rPr lang="fr-BE" sz="2400" dirty="0">
                <a:latin typeface="Calibri"/>
                <a:ea typeface="Calibri"/>
                <a:cs typeface="Calibri"/>
              </a:rPr>
              <a:t> on in a new note,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because</a:t>
            </a:r>
            <a:r>
              <a:rPr lang="fr-BE" sz="2400" dirty="0">
                <a:latin typeface="Calibri"/>
                <a:ea typeface="Calibri"/>
                <a:cs typeface="Calibri"/>
              </a:rPr>
              <a:t>:</a:t>
            </a:r>
          </a:p>
          <a:p>
            <a:pPr marL="1176655" lvl="1">
              <a:buFont typeface="Courier New"/>
              <a:buChar char="o"/>
            </a:pPr>
            <a:r>
              <a:rPr lang="fr-BE" sz="2000" dirty="0">
                <a:latin typeface="Calibri"/>
                <a:ea typeface="Calibri"/>
                <a:cs typeface="Calibri"/>
              </a:rPr>
              <a:t>It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reminds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you</a:t>
            </a:r>
            <a:r>
              <a:rPr lang="fr-BE" sz="2000" dirty="0">
                <a:latin typeface="Calibri"/>
                <a:ea typeface="Calibri"/>
                <a:cs typeface="Calibri"/>
              </a:rPr>
              <a:t> of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where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your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idea</a:t>
            </a:r>
            <a:r>
              <a:rPr lang="fr-BE" sz="2000" dirty="0">
                <a:latin typeface="Calibri"/>
                <a:ea typeface="Calibri"/>
                <a:cs typeface="Calibri"/>
              </a:rPr>
              <a:t> came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from</a:t>
            </a:r>
            <a:r>
              <a:rPr lang="fr-BE" sz="2000" dirty="0">
                <a:latin typeface="Calibri"/>
                <a:ea typeface="Calibri"/>
                <a:cs typeface="Calibri"/>
              </a:rPr>
              <a:t>.</a:t>
            </a:r>
          </a:p>
          <a:p>
            <a:pPr marL="1176655" lvl="1">
              <a:buFont typeface="Courier New"/>
              <a:buChar char="o"/>
            </a:pPr>
            <a:r>
              <a:rPr lang="fr-BE" sz="2000" dirty="0">
                <a:latin typeface="Calibri"/>
                <a:ea typeface="Calibri"/>
                <a:cs typeface="Calibri"/>
              </a:rPr>
              <a:t>It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helps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you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cide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wheth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your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idea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is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restating</a:t>
            </a:r>
            <a:r>
              <a:rPr lang="fr-BE" sz="2000" dirty="0">
                <a:latin typeface="Calibri"/>
                <a:ea typeface="Calibri"/>
                <a:cs typeface="Calibri"/>
              </a:rPr>
              <a:t> the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quote</a:t>
            </a:r>
            <a:r>
              <a:rPr lang="fr-BE" sz="2000" dirty="0">
                <a:latin typeface="Calibri"/>
                <a:ea typeface="Calibri"/>
                <a:cs typeface="Calibri"/>
              </a:rPr>
              <a:t> or if the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idea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was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merely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inspired</a:t>
            </a:r>
            <a:r>
              <a:rPr lang="fr-BE" sz="2000" dirty="0">
                <a:latin typeface="Calibri"/>
                <a:ea typeface="Calibri"/>
                <a:cs typeface="Calibri"/>
              </a:rPr>
              <a:t> by the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quote</a:t>
            </a:r>
            <a:r>
              <a:rPr lang="fr-BE" sz="2000" dirty="0">
                <a:latin typeface="Calibri"/>
                <a:ea typeface="Calibri"/>
                <a:cs typeface="Calibri"/>
              </a:rPr>
              <a:t> (=&gt;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determine</a:t>
            </a:r>
            <a:r>
              <a:rPr lang="fr-BE" sz="2000" dirty="0">
                <a:latin typeface="Calibri"/>
                <a:ea typeface="Calibri"/>
                <a:cs typeface="Calibri"/>
              </a:rPr>
              <a:t> if/how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you</a:t>
            </a:r>
            <a:r>
              <a:rPr lang="fr-BE" sz="2000" dirty="0">
                <a:latin typeface="Calibri"/>
                <a:ea typeface="Calibri"/>
                <a:cs typeface="Calibri"/>
              </a:rPr>
              <a:t> cite the source in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your</a:t>
            </a:r>
            <a:r>
              <a:rPr lang="fr-BE" sz="2000" dirty="0">
                <a:latin typeface="Calibri"/>
                <a:ea typeface="Calibri"/>
                <a:cs typeface="Calibri"/>
              </a:rPr>
              <a:t> state of the art)</a:t>
            </a:r>
          </a:p>
          <a:p>
            <a:pPr marL="457200" indent="-457200">
              <a:buAutoNum type="arabicPeriod"/>
            </a:pPr>
            <a:r>
              <a:rPr lang="fr-BE" sz="2400" b="1" dirty="0">
                <a:solidFill>
                  <a:srgbClr val="2E3135"/>
                </a:solidFill>
                <a:ea typeface="Calibri"/>
                <a:cs typeface="Calibri"/>
              </a:rPr>
              <a:t>Write down </a:t>
            </a:r>
            <a:r>
              <a:rPr lang="fr-BE" sz="2400" b="1" dirty="0" err="1">
                <a:solidFill>
                  <a:srgbClr val="2E3135"/>
                </a:solidFill>
                <a:ea typeface="Calibri"/>
                <a:cs typeface="Calibri"/>
              </a:rPr>
              <a:t>your</a:t>
            </a:r>
            <a:r>
              <a:rPr lang="fr-BE" sz="2400" b="1" dirty="0">
                <a:solidFill>
                  <a:srgbClr val="2E3135"/>
                </a:solidFill>
                <a:ea typeface="Calibri"/>
                <a:cs typeface="Calibri"/>
              </a:rPr>
              <a:t> </a:t>
            </a:r>
            <a:r>
              <a:rPr lang="fr-BE" sz="2400" b="1" dirty="0" err="1">
                <a:solidFill>
                  <a:srgbClr val="2E3135"/>
                </a:solidFill>
                <a:ea typeface="Calibri"/>
                <a:cs typeface="Calibri"/>
              </a:rPr>
              <a:t>thinking</a:t>
            </a:r>
            <a:r>
              <a:rPr lang="fr-BE" sz="2400" b="1" dirty="0">
                <a:solidFill>
                  <a:srgbClr val="2E3135"/>
                </a:solidFill>
                <a:ea typeface="Calibri"/>
                <a:cs typeface="Calibri"/>
              </a:rPr>
              <a:t> about the passage</a:t>
            </a:r>
          </a:p>
          <a:p>
            <a:pPr marL="1176655" lvl="1">
              <a:buFont typeface="Courier New"/>
              <a:buChar char="o"/>
            </a:pPr>
            <a:r>
              <a:rPr lang="fr-BE" sz="2000" dirty="0" err="1">
                <a:latin typeface="Calibri"/>
                <a:ea typeface="Calibri"/>
                <a:cs typeface="Calibri"/>
              </a:rPr>
              <a:t>Reduce</a:t>
            </a:r>
            <a:r>
              <a:rPr lang="fr-BE" sz="2000" dirty="0">
                <a:latin typeface="Calibri"/>
                <a:ea typeface="Calibri"/>
                <a:cs typeface="Calibri"/>
              </a:rPr>
              <a:t> the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idea</a:t>
            </a:r>
            <a:r>
              <a:rPr lang="fr-BE" sz="2000" dirty="0">
                <a:latin typeface="Calibri"/>
                <a:ea typeface="Calibri"/>
                <a:cs typeface="Calibri"/>
              </a:rPr>
              <a:t> to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its</a:t>
            </a:r>
            <a:r>
              <a:rPr lang="fr-BE" sz="2000" dirty="0">
                <a:latin typeface="Calibri"/>
                <a:ea typeface="Calibri"/>
                <a:cs typeface="Calibri"/>
              </a:rPr>
              <a:t> essential point =&gt; the more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atomic</a:t>
            </a:r>
            <a:r>
              <a:rPr lang="fr-BE" sz="2000" dirty="0">
                <a:latin typeface="Calibri"/>
                <a:ea typeface="Calibri"/>
                <a:cs typeface="Calibri"/>
              </a:rPr>
              <a:t> an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idea</a:t>
            </a:r>
            <a:r>
              <a:rPr lang="fr-BE" sz="2000" dirty="0">
                <a:latin typeface="Calibri"/>
                <a:ea typeface="Calibri"/>
                <a:cs typeface="Calibri"/>
              </a:rPr>
              <a:t>, the more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broadly</a:t>
            </a:r>
            <a:r>
              <a:rPr lang="fr-BE" sz="2000" dirty="0"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you</a:t>
            </a:r>
            <a:r>
              <a:rPr lang="fr-BE" sz="2000" dirty="0">
                <a:latin typeface="Calibri"/>
                <a:ea typeface="Calibri"/>
                <a:cs typeface="Calibri"/>
              </a:rPr>
              <a:t> can use </a:t>
            </a:r>
            <a:r>
              <a:rPr lang="fr-BE" sz="2000" dirty="0" err="1">
                <a:latin typeface="Calibri"/>
                <a:ea typeface="Calibri"/>
                <a:cs typeface="Calibri"/>
              </a:rPr>
              <a:t>it</a:t>
            </a:r>
            <a:endParaRPr lang="fr-BE" sz="2000" dirty="0">
              <a:latin typeface="Calibri"/>
              <a:ea typeface="Calibri"/>
              <a:cs typeface="Calibri"/>
            </a:endParaRPr>
          </a:p>
          <a:p>
            <a:pPr marL="1176655" lvl="1">
              <a:buFont typeface="Courier New"/>
              <a:buChar char="o"/>
            </a:pPr>
            <a:r>
              <a:rPr lang="fr-BE" sz="2000" dirty="0">
                <a:latin typeface="Calibri"/>
                <a:ea typeface="Calibri"/>
                <a:cs typeface="Calibri"/>
              </a:rPr>
              <a:t>If</a:t>
            </a:r>
            <a:r>
              <a:rPr lang="fr-BE" sz="2000" dirty="0">
                <a:solidFill>
                  <a:srgbClr val="2E313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BE" sz="2000" dirty="0" err="1">
                <a:solidFill>
                  <a:srgbClr val="2E3135"/>
                </a:solidFill>
                <a:latin typeface="Calibri"/>
                <a:ea typeface="Calibri"/>
                <a:cs typeface="Calibri"/>
              </a:rPr>
              <a:t>you're</a:t>
            </a:r>
            <a:r>
              <a:rPr lang="fr-BE" sz="2000" dirty="0">
                <a:solidFill>
                  <a:srgbClr val="2E3135"/>
                </a:solidFill>
                <a:latin typeface="Calibri"/>
                <a:ea typeface="Calibri"/>
                <a:cs typeface="Calibri"/>
              </a:rPr>
              <a:t> handling </a:t>
            </a:r>
            <a:r>
              <a:rPr lang="fr-BE" sz="2000" b="1" dirty="0" err="1">
                <a:solidFill>
                  <a:srgbClr val="2E3135"/>
                </a:solidFill>
                <a:latin typeface="Calibri"/>
                <a:ea typeface="Calibri"/>
                <a:cs typeface="Calibri"/>
              </a:rPr>
              <a:t>facts</a:t>
            </a:r>
            <a:r>
              <a:rPr lang="fr-BE" sz="2000" dirty="0">
                <a:solidFill>
                  <a:srgbClr val="2E3135"/>
                </a:solidFill>
                <a:latin typeface="Calibri"/>
                <a:ea typeface="Calibri"/>
                <a:cs typeface="Calibri"/>
              </a:rPr>
              <a:t>:</a:t>
            </a:r>
            <a:endParaRPr lang="fr-BE" sz="2000" dirty="0">
              <a:solidFill>
                <a:srgbClr val="474746"/>
              </a:solidFill>
              <a:latin typeface="Calibri"/>
            </a:endParaRPr>
          </a:p>
          <a:p>
            <a:pPr marL="1447165" lvl="2">
              <a:buFont typeface="Courier New"/>
              <a:buChar char="o"/>
            </a:pPr>
            <a:r>
              <a:rPr lang="fr-BE" sz="1800" b="1" dirty="0">
                <a:latin typeface="Calibri"/>
                <a:ea typeface="Calibri"/>
                <a:cs typeface="Calibri"/>
              </a:rPr>
              <a:t>Restate </a:t>
            </a:r>
            <a:r>
              <a:rPr lang="fr-BE" sz="1800" b="1" err="1">
                <a:latin typeface="Calibri"/>
                <a:ea typeface="Calibri"/>
                <a:cs typeface="Calibri"/>
              </a:rPr>
              <a:t>facts</a:t>
            </a:r>
            <a:r>
              <a:rPr lang="fr-BE" sz="1800" b="1" dirty="0">
                <a:latin typeface="Calibri"/>
                <a:ea typeface="Calibri"/>
                <a:cs typeface="Calibri"/>
              </a:rPr>
              <a:t> in </a:t>
            </a:r>
            <a:r>
              <a:rPr lang="fr-BE" sz="1800" b="1" err="1">
                <a:latin typeface="Calibri"/>
                <a:ea typeface="Calibri"/>
                <a:cs typeface="Calibri"/>
              </a:rPr>
              <a:t>your</a:t>
            </a:r>
            <a:r>
              <a:rPr lang="fr-BE" sz="1800" b="1" dirty="0">
                <a:latin typeface="Calibri"/>
                <a:ea typeface="Calibri"/>
                <a:cs typeface="Calibri"/>
              </a:rPr>
              <a:t> </a:t>
            </a:r>
            <a:r>
              <a:rPr lang="fr-BE" sz="1800" b="1" err="1">
                <a:latin typeface="Calibri"/>
                <a:ea typeface="Calibri"/>
                <a:cs typeface="Calibri"/>
              </a:rPr>
              <a:t>own</a:t>
            </a:r>
            <a:r>
              <a:rPr lang="fr-BE" sz="1800" b="1" dirty="0">
                <a:latin typeface="Calibri"/>
                <a:ea typeface="Calibri"/>
                <a:cs typeface="Calibri"/>
              </a:rPr>
              <a:t> </a:t>
            </a:r>
            <a:r>
              <a:rPr lang="fr-BE" sz="1800" b="1" err="1">
                <a:latin typeface="Calibri"/>
                <a:ea typeface="Calibri"/>
                <a:cs typeface="Calibri"/>
              </a:rPr>
              <a:t>words</a:t>
            </a:r>
            <a:r>
              <a:rPr lang="fr-BE" sz="1800" dirty="0">
                <a:latin typeface="Calibri"/>
                <a:ea typeface="Calibri"/>
                <a:cs typeface="Calibri"/>
              </a:rPr>
              <a:t> =&gt; Can help </a:t>
            </a:r>
            <a:r>
              <a:rPr lang="fr-BE" sz="1800" err="1">
                <a:latin typeface="Calibri"/>
                <a:ea typeface="Calibri"/>
                <a:cs typeface="Calibri"/>
              </a:rPr>
              <a:t>begin</a:t>
            </a:r>
            <a:r>
              <a:rPr lang="fr-BE" sz="1800" dirty="0">
                <a:latin typeface="Calibri"/>
                <a:ea typeface="Calibri"/>
                <a:cs typeface="Calibri"/>
              </a:rPr>
              <a:t> the process of </a:t>
            </a:r>
            <a:r>
              <a:rPr lang="fr-BE" sz="1800" err="1">
                <a:latin typeface="Calibri"/>
                <a:ea typeface="Calibri"/>
                <a:cs typeface="Calibri"/>
              </a:rPr>
              <a:t>contextualizing</a:t>
            </a:r>
            <a:r>
              <a:rPr lang="fr-BE" sz="1800" dirty="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facts</a:t>
            </a:r>
            <a:r>
              <a:rPr lang="fr-BE" sz="1800" dirty="0">
                <a:latin typeface="Calibri"/>
                <a:ea typeface="Calibri"/>
                <a:cs typeface="Calibri"/>
              </a:rPr>
              <a:t> and </a:t>
            </a:r>
            <a:r>
              <a:rPr lang="fr-BE" sz="1800" err="1">
                <a:latin typeface="Calibri"/>
                <a:ea typeface="Calibri"/>
                <a:cs typeface="Calibri"/>
              </a:rPr>
              <a:t>connecting</a:t>
            </a:r>
            <a:r>
              <a:rPr lang="fr-BE" sz="1800" dirty="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them</a:t>
            </a:r>
            <a:r>
              <a:rPr lang="fr-BE" sz="1800" dirty="0">
                <a:latin typeface="Calibri"/>
                <a:ea typeface="Calibri"/>
                <a:cs typeface="Calibri"/>
              </a:rPr>
              <a:t> to </a:t>
            </a:r>
            <a:r>
              <a:rPr lang="fr-BE" sz="1800" err="1">
                <a:latin typeface="Calibri"/>
                <a:ea typeface="Calibri"/>
                <a:cs typeface="Calibri"/>
              </a:rPr>
              <a:t>other</a:t>
            </a:r>
            <a:r>
              <a:rPr lang="fr-BE" sz="1800" dirty="0">
                <a:latin typeface="Calibri"/>
                <a:ea typeface="Calibri"/>
                <a:cs typeface="Calibri"/>
              </a:rPr>
              <a:t> </a:t>
            </a:r>
            <a:r>
              <a:rPr lang="fr-BE" sz="1800">
                <a:latin typeface="Calibri"/>
                <a:ea typeface="Calibri"/>
                <a:cs typeface="Calibri"/>
              </a:rPr>
              <a:t>ideas</a:t>
            </a:r>
          </a:p>
          <a:p>
            <a:pPr marL="1447165" lvl="2">
              <a:buFont typeface="Courier New"/>
              <a:buChar char="o"/>
            </a:pPr>
            <a:r>
              <a:rPr lang="fr-BE" sz="1800" b="1">
                <a:latin typeface="Calibri"/>
                <a:ea typeface="Calibri"/>
                <a:cs typeface="Calibri"/>
              </a:rPr>
              <a:t>Say </a:t>
            </a:r>
            <a:r>
              <a:rPr lang="fr-BE" sz="1800" b="1" err="1">
                <a:latin typeface="Calibri"/>
                <a:ea typeface="Calibri"/>
                <a:cs typeface="Calibri"/>
              </a:rPr>
              <a:t>something</a:t>
            </a:r>
            <a:r>
              <a:rPr lang="fr-BE" sz="1800" b="1">
                <a:latin typeface="Calibri"/>
                <a:ea typeface="Calibri"/>
                <a:cs typeface="Calibri"/>
              </a:rPr>
              <a:t> about the </a:t>
            </a:r>
            <a:r>
              <a:rPr lang="fr-BE" sz="1800" b="1" err="1">
                <a:latin typeface="Calibri"/>
                <a:ea typeface="Calibri"/>
                <a:cs typeface="Calibri"/>
              </a:rPr>
              <a:t>facts</a:t>
            </a:r>
            <a:r>
              <a:rPr lang="fr-BE" sz="1800">
                <a:latin typeface="Calibri"/>
                <a:ea typeface="Calibri"/>
                <a:cs typeface="Calibri"/>
              </a:rPr>
              <a:t> =&gt; Can help </a:t>
            </a:r>
            <a:r>
              <a:rPr lang="fr-BE" sz="1800" err="1">
                <a:latin typeface="Calibri"/>
                <a:ea typeface="Calibri"/>
                <a:cs typeface="Calibri"/>
              </a:rPr>
              <a:t>integrate</a:t>
            </a:r>
            <a:r>
              <a:rPr lang="fr-BE" sz="1800">
                <a:latin typeface="Calibri"/>
                <a:ea typeface="Calibri"/>
                <a:cs typeface="Calibri"/>
              </a:rPr>
              <a:t> the information </a:t>
            </a:r>
            <a:r>
              <a:rPr lang="fr-BE" sz="1800" err="1">
                <a:latin typeface="Calibri"/>
                <a:ea typeface="Calibri"/>
                <a:cs typeface="Calibri"/>
              </a:rPr>
              <a:t>into</a:t>
            </a:r>
            <a:r>
              <a:rPr lang="fr-BE" sz="1800" dirty="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your</a:t>
            </a:r>
            <a:r>
              <a:rPr lang="fr-BE" sz="1800" dirty="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broader</a:t>
            </a:r>
            <a:r>
              <a:rPr lang="fr-BE" sz="1800" dirty="0">
                <a:latin typeface="Calibri"/>
                <a:ea typeface="Calibri"/>
                <a:cs typeface="Calibri"/>
              </a:rPr>
              <a:t> </a:t>
            </a:r>
            <a:r>
              <a:rPr lang="fr-BE" sz="1800" err="1">
                <a:latin typeface="Calibri"/>
                <a:ea typeface="Calibri"/>
                <a:cs typeface="Calibri"/>
              </a:rPr>
              <a:t>understanding</a:t>
            </a:r>
            <a:r>
              <a:rPr lang="fr-BE" sz="1800" dirty="0">
                <a:latin typeface="Calibri"/>
                <a:ea typeface="Calibri"/>
                <a:cs typeface="Calibri"/>
              </a:rPr>
              <a:t> </a:t>
            </a:r>
            <a:r>
              <a:rPr lang="fr-BE" sz="1800">
                <a:latin typeface="Calibri"/>
                <a:ea typeface="Calibri"/>
                <a:cs typeface="Calibri"/>
              </a:rPr>
              <a:t>of the topic</a:t>
            </a:r>
          </a:p>
          <a:p>
            <a:pPr marL="457200" indent="-457200">
              <a:buAutoNum type="arabicPeriod"/>
            </a:pP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Consider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the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idea's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relationship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to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others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of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your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Zettelkasten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(if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any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), and </a:t>
            </a:r>
            <a:r>
              <a:rPr lang="fr-BE" sz="2400" b="1" dirty="0">
                <a:solidFill>
                  <a:srgbClr val="2E3135"/>
                </a:solidFill>
                <a:ea typeface="Calibri"/>
                <a:cs typeface="Calibri"/>
              </a:rPr>
              <a:t>record </a:t>
            </a:r>
            <a:r>
              <a:rPr lang="fr-BE" sz="2400" b="1" dirty="0" err="1">
                <a:solidFill>
                  <a:srgbClr val="2E3135"/>
                </a:solidFill>
                <a:ea typeface="Calibri"/>
                <a:cs typeface="Calibri"/>
              </a:rPr>
              <a:t>any</a:t>
            </a:r>
            <a:r>
              <a:rPr lang="fr-BE" sz="2400" b="1" dirty="0">
                <a:solidFill>
                  <a:srgbClr val="2E3135"/>
                </a:solidFill>
                <a:ea typeface="Calibri"/>
                <a:cs typeface="Calibri"/>
              </a:rPr>
              <a:t> </a:t>
            </a:r>
            <a:r>
              <a:rPr lang="fr-BE" sz="2400" b="1" dirty="0" err="1">
                <a:solidFill>
                  <a:srgbClr val="2E3135"/>
                </a:solidFill>
                <a:ea typeface="Calibri"/>
                <a:cs typeface="Calibri"/>
              </a:rPr>
              <a:t>connection</a:t>
            </a:r>
            <a:r>
              <a:rPr lang="fr-BE" sz="2400" b="1" dirty="0">
                <a:solidFill>
                  <a:srgbClr val="2E3135"/>
                </a:solidFill>
                <a:ea typeface="Calibri"/>
                <a:cs typeface="Calibri"/>
              </a:rPr>
              <a:t> as a </a:t>
            </a:r>
            <a:r>
              <a:rPr lang="fr-BE" sz="2400" b="1" dirty="0" err="1">
                <a:solidFill>
                  <a:srgbClr val="2E3135"/>
                </a:solidFill>
                <a:ea typeface="Calibri"/>
                <a:cs typeface="Calibri"/>
              </a:rPr>
              <a:t>contextual</a:t>
            </a:r>
            <a:r>
              <a:rPr lang="fr-BE" sz="2400" b="1" dirty="0">
                <a:solidFill>
                  <a:srgbClr val="2E3135"/>
                </a:solidFill>
                <a:ea typeface="Calibri"/>
                <a:cs typeface="Calibri"/>
              </a:rPr>
              <a:t> </a:t>
            </a:r>
            <a:r>
              <a:rPr lang="fr-BE" sz="2400" b="1" dirty="0" err="1">
                <a:solidFill>
                  <a:srgbClr val="2E3135"/>
                </a:solidFill>
                <a:ea typeface="Calibri"/>
                <a:cs typeface="Calibri"/>
              </a:rPr>
              <a:t>link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=&gt;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Give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context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to </a:t>
            </a:r>
            <a:r>
              <a:rPr lang="fr-BE" sz="2400" dirty="0" err="1">
                <a:solidFill>
                  <a:srgbClr val="2E3135"/>
                </a:solidFill>
                <a:ea typeface="Calibri"/>
                <a:cs typeface="Calibri"/>
              </a:rPr>
              <a:t>your</a:t>
            </a:r>
            <a:r>
              <a:rPr lang="fr-BE" sz="2400" dirty="0">
                <a:solidFill>
                  <a:srgbClr val="2E3135"/>
                </a:solidFill>
                <a:ea typeface="Calibri"/>
                <a:cs typeface="Calibri"/>
              </a:rPr>
              <a:t> links !</a:t>
            </a:r>
          </a:p>
          <a:p>
            <a:pPr marL="342900" indent="-342900">
              <a:buAutoNum type="arabicPeriod"/>
            </a:pPr>
            <a:endParaRPr lang="fr-BE" sz="2400"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9048DC-FA08-9E7C-0528-875984D3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How to create main notes ?</a:t>
            </a:r>
            <a:endParaRPr lang="en-US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789B0227-7E8C-D2A3-B1A3-0B26D4A45B21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8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265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519B-8DC4-821A-8BBF-7DCC02861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CE698-DA8A-3B8D-8A13-0389D5F48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70941"/>
            <a:ext cx="6043319" cy="2967631"/>
          </a:xfrm>
        </p:spPr>
        <p:txBody>
          <a:bodyPr lIns="91440" tIns="45720" rIns="91440" bIns="45720" anchor="t"/>
          <a:lstStyle/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A </a:t>
            </a:r>
            <a:r>
              <a:rPr lang="fr-BE" sz="2400" err="1">
                <a:ea typeface="Calibri"/>
                <a:cs typeface="Calibri"/>
              </a:rPr>
              <a:t>Zettelkasten</a:t>
            </a:r>
            <a:r>
              <a:rPr lang="fr-BE" sz="2400">
                <a:ea typeface="Calibri"/>
                <a:cs typeface="Calibri"/>
              </a:rPr>
              <a:t> = </a:t>
            </a:r>
            <a:r>
              <a:rPr lang="fr-BE" sz="2400" err="1">
                <a:ea typeface="Calibri"/>
                <a:cs typeface="Calibri"/>
              </a:rPr>
              <a:t>anarchic</a:t>
            </a:r>
            <a:r>
              <a:rPr lang="fr-BE" sz="2400">
                <a:ea typeface="Calibri"/>
                <a:cs typeface="Calibri"/>
              </a:rPr>
              <a:t> network</a:t>
            </a:r>
            <a:endParaRPr lang="en-US"/>
          </a:p>
          <a:p>
            <a:pPr marL="342900" indent="-342900">
              <a:buChar char="•"/>
            </a:pPr>
            <a:r>
              <a:rPr lang="fr-BE" sz="2400" err="1">
                <a:ea typeface="Calibri"/>
                <a:cs typeface="Calibri"/>
              </a:rPr>
              <a:t>Without</a:t>
            </a:r>
            <a:r>
              <a:rPr lang="fr-BE" sz="2400">
                <a:ea typeface="Calibri"/>
                <a:cs typeface="Calibri"/>
              </a:rPr>
              <a:t> high-</a:t>
            </a:r>
            <a:r>
              <a:rPr lang="fr-BE" sz="2400" err="1">
                <a:ea typeface="Calibri"/>
                <a:cs typeface="Calibri"/>
              </a:rPr>
              <a:t>level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views</a:t>
            </a:r>
            <a:r>
              <a:rPr lang="fr-BE" sz="2400">
                <a:ea typeface="Calibri"/>
                <a:cs typeface="Calibri"/>
              </a:rPr>
              <a:t>, </a:t>
            </a:r>
            <a:r>
              <a:rPr lang="fr-BE" sz="2400" err="1">
                <a:ea typeface="Calibri"/>
                <a:cs typeface="Calibri"/>
              </a:rPr>
              <a:t>your</a:t>
            </a:r>
            <a:r>
              <a:rPr lang="fr-BE" sz="2400">
                <a:ea typeface="Calibri"/>
                <a:cs typeface="Calibri"/>
              </a:rPr>
              <a:t> main notes </a:t>
            </a:r>
            <a:r>
              <a:rPr lang="fr-BE" sz="2400" err="1">
                <a:ea typeface="Calibri"/>
                <a:cs typeface="Calibri"/>
              </a:rPr>
              <a:t>will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seem</a:t>
            </a:r>
            <a:r>
              <a:rPr lang="fr-BE" sz="2400">
                <a:ea typeface="Calibri"/>
                <a:cs typeface="Calibri"/>
              </a:rPr>
              <a:t> like a </a:t>
            </a:r>
            <a:r>
              <a:rPr lang="fr-BE" sz="2400" err="1">
                <a:ea typeface="Calibri"/>
                <a:cs typeface="Calibri"/>
              </a:rPr>
              <a:t>great</a:t>
            </a:r>
            <a:r>
              <a:rPr lang="fr-BE" sz="2400">
                <a:ea typeface="Calibri"/>
                <a:cs typeface="Calibri"/>
              </a:rPr>
              <a:t> mess !</a:t>
            </a:r>
          </a:p>
          <a:p>
            <a:pPr marL="342900" indent="-342900">
              <a:buChar char="•"/>
            </a:pPr>
            <a:r>
              <a:rPr lang="fr-BE" sz="2400">
                <a:ea typeface="Calibri"/>
                <a:cs typeface="Calibri"/>
              </a:rPr>
              <a:t>How ?</a:t>
            </a:r>
          </a:p>
          <a:p>
            <a:pPr marL="1062355" lvl="1" indent="-342900">
              <a:buFont typeface="Courier New"/>
              <a:buChar char="o"/>
            </a:pP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Hub notes</a:t>
            </a:r>
            <a:endParaRPr lang="fr-BE" sz="2000">
              <a:ea typeface="Calibri"/>
              <a:cs typeface="Calibri"/>
            </a:endParaRPr>
          </a:p>
          <a:p>
            <a:pPr marL="1062355" lvl="1" indent="-342900">
              <a:buFont typeface="Courier New"/>
              <a:buChar char="o"/>
            </a:pPr>
            <a:r>
              <a:rPr lang="fr-BE" sz="2000">
                <a:solidFill>
                  <a:srgbClr val="474746"/>
                </a:solidFill>
                <a:latin typeface="Calibri"/>
                <a:ea typeface="Calibri"/>
                <a:cs typeface="Calibri"/>
              </a:rPr>
              <a:t>Structure notes</a:t>
            </a:r>
            <a:endParaRPr lang="fr-BE" sz="2000">
              <a:ea typeface="Calibri"/>
              <a:cs typeface="Calibri"/>
            </a:endParaRPr>
          </a:p>
          <a:p>
            <a:pPr marL="342900" indent="-342900">
              <a:buChar char="•"/>
            </a:pPr>
            <a:endParaRPr lang="fr-BE" sz="2400">
              <a:solidFill>
                <a:srgbClr val="4747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D7DF30-B5FE-F822-F432-FE79C8C2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Navigating the anarchy of ideas</a:t>
            </a:r>
            <a:endParaRPr lang="en-GB" sz="2800" b="1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C7FC343F-BED4-8891-7C4B-8F1B3655FABA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9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3" name="Picture 2" descr="A network of green dots and lines&#10;&#10;AI-generated content may be incorrect.">
            <a:extLst>
              <a:ext uri="{FF2B5EF4-FFF2-40B4-BE49-F238E27FC236}">
                <a16:creationId xmlns:a16="http://schemas.microsoft.com/office/drawing/2014/main" id="{730E39C5-94B4-382E-5E15-C9D0A032F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925" y="1175926"/>
            <a:ext cx="5254444" cy="519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2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0B59C-C1CB-36AC-A831-5D6F4964C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9127A-DDAD-79D3-E867-14A88E377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5757"/>
            <a:ext cx="5488283" cy="4783261"/>
          </a:xfrm>
        </p:spPr>
        <p:txBody>
          <a:bodyPr lIns="91440" tIns="45720" rIns="91440" bIns="45720" anchor="t"/>
          <a:lstStyle/>
          <a:p>
            <a:pPr marL="457200" indent="-457200">
              <a:buChar char="•"/>
            </a:pPr>
            <a:r>
              <a:rPr lang="en-US" sz="2400">
                <a:ea typeface="ＭＳ Ｐゴシック"/>
              </a:rPr>
              <a:t>Through time, main notes form trains of thought</a:t>
            </a:r>
            <a:endParaRPr lang="en-US" sz="2400"/>
          </a:p>
          <a:p>
            <a:r>
              <a:rPr lang="en-US" sz="2400">
                <a:ea typeface="ＭＳ Ｐゴシック"/>
              </a:rPr>
              <a:t>   =&gt; Sequence of ideas established when notes refer or link to one another</a:t>
            </a:r>
            <a:endParaRPr lang="en-US" sz="2400"/>
          </a:p>
          <a:p>
            <a:pPr marL="457200" indent="-457200">
              <a:buChar char="•"/>
            </a:pPr>
            <a:r>
              <a:rPr lang="fr-BE" sz="2400">
                <a:ea typeface="Calibri"/>
                <a:cs typeface="Calibri"/>
              </a:rPr>
              <a:t>Hub note </a:t>
            </a:r>
            <a:r>
              <a:rPr lang="fr-BE" sz="2400" err="1">
                <a:ea typeface="Calibri"/>
                <a:cs typeface="Calibri"/>
              </a:rPr>
              <a:t>helps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find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these</a:t>
            </a:r>
            <a:r>
              <a:rPr lang="fr-BE" sz="2400">
                <a:ea typeface="Calibri"/>
                <a:cs typeface="Calibri"/>
              </a:rPr>
              <a:t> trains of </a:t>
            </a:r>
            <a:r>
              <a:rPr lang="fr-BE" sz="2400" err="1">
                <a:ea typeface="Calibri"/>
                <a:cs typeface="Calibri"/>
              </a:rPr>
              <a:t>thought</a:t>
            </a:r>
            <a:r>
              <a:rPr lang="fr-BE" sz="2400">
                <a:ea typeface="Calibri"/>
                <a:cs typeface="Calibri"/>
              </a:rPr>
              <a:t> = </a:t>
            </a:r>
            <a:r>
              <a:rPr lang="fr-BE" sz="2400" err="1">
                <a:ea typeface="Calibri"/>
                <a:cs typeface="Calibri"/>
              </a:rPr>
              <a:t>access</a:t>
            </a:r>
            <a:r>
              <a:rPr lang="fr-BE" sz="2400">
                <a:ea typeface="Calibri"/>
                <a:cs typeface="Calibri"/>
              </a:rPr>
              <a:t> point = highway </a:t>
            </a:r>
            <a:r>
              <a:rPr lang="fr-BE" sz="2400" err="1">
                <a:ea typeface="Calibri"/>
                <a:cs typeface="Calibri"/>
              </a:rPr>
              <a:t>between</a:t>
            </a:r>
            <a:r>
              <a:rPr lang="fr-BE" sz="2400">
                <a:ea typeface="Calibri"/>
                <a:cs typeface="Calibri"/>
              </a:rPr>
              <a:t> topics</a:t>
            </a:r>
          </a:p>
          <a:p>
            <a:pPr marL="457200" indent="-457200">
              <a:buChar char="•"/>
            </a:pPr>
            <a:r>
              <a:rPr lang="fr-BE" sz="2400">
                <a:ea typeface="Calibri"/>
                <a:cs typeface="Calibri"/>
              </a:rPr>
              <a:t>Hub note points </a:t>
            </a:r>
            <a:r>
              <a:rPr lang="fr-BE" sz="2400" err="1">
                <a:ea typeface="Calibri"/>
                <a:cs typeface="Calibri"/>
              </a:rPr>
              <a:t>where</a:t>
            </a:r>
            <a:r>
              <a:rPr lang="fr-BE" sz="240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things</a:t>
            </a:r>
            <a:r>
              <a:rPr lang="fr-BE" sz="2400">
                <a:ea typeface="Calibri"/>
                <a:cs typeface="Calibri"/>
              </a:rPr>
              <a:t> are happening</a:t>
            </a:r>
          </a:p>
          <a:p>
            <a:pPr marL="342900" indent="-342900">
              <a:buChar char="•"/>
            </a:pPr>
            <a:endParaRPr lang="fr-BE" sz="2400"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E1F6B2-AE49-17DA-5BE9-4BDD806F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31519"/>
          </a:xfrm>
        </p:spPr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Hub notes</a:t>
            </a:r>
            <a:endParaRPr lang="en-US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4580314C-F970-6B0C-E3E3-2C44159CF92B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10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BD7AAC-DBB9-E80E-7FC4-8CB18D182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246" y="810154"/>
            <a:ext cx="5720175" cy="49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4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536C-2363-84A5-B24B-FC048E81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DF3B8-7BD4-DCF8-51B6-4B44BC81D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35757"/>
            <a:ext cx="6255549" cy="3381181"/>
          </a:xfrm>
        </p:spPr>
        <p:txBody>
          <a:bodyPr lIns="91440" tIns="45720" rIns="91440" bIns="45720" anchor="t"/>
          <a:lstStyle/>
          <a:p>
            <a:pPr marL="457200" indent="-457200">
              <a:buChar char="•"/>
            </a:pPr>
            <a:r>
              <a:rPr lang="fr-BE" sz="2400" dirty="0" err="1">
                <a:latin typeface="Calibri"/>
                <a:ea typeface="Calibri"/>
                <a:cs typeface="Calibri"/>
              </a:rPr>
              <a:t>Zettelkasten</a:t>
            </a:r>
            <a:r>
              <a:rPr lang="fr-BE" sz="2400" dirty="0">
                <a:latin typeface="Calibri"/>
                <a:ea typeface="Calibri"/>
                <a:cs typeface="Calibri"/>
              </a:rPr>
              <a:t> </a:t>
            </a:r>
            <a:r>
              <a:rPr lang="fr-BE" sz="2400" dirty="0">
                <a:ea typeface="+mj-lt"/>
                <a:cs typeface="+mj-lt"/>
              </a:rPr>
              <a:t>≠</a:t>
            </a:r>
            <a:r>
              <a:rPr lang="fr-BE" sz="2400" dirty="0">
                <a:latin typeface="Calibri"/>
                <a:ea typeface="Calibri"/>
                <a:cs typeface="Calibri"/>
              </a:rPr>
              <a:t> 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hierarchical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organization</a:t>
            </a:r>
            <a:r>
              <a:rPr lang="fr-BE" sz="2400" dirty="0">
                <a:latin typeface="Calibri"/>
                <a:ea typeface="Calibri"/>
                <a:cs typeface="Calibri"/>
              </a:rPr>
              <a:t> ≠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categories</a:t>
            </a:r>
            <a:endParaRPr lang="fr-BE" sz="2400" dirty="0">
              <a:latin typeface="Calibri"/>
              <a:ea typeface="Calibri"/>
              <a:cs typeface="Calibri"/>
            </a:endParaRPr>
          </a:p>
          <a:p>
            <a:pPr marL="457200" indent="-457200">
              <a:buChar char="•"/>
            </a:pPr>
            <a:r>
              <a:rPr lang="fr-BE" sz="2400" dirty="0">
                <a:latin typeface="Calibri"/>
                <a:ea typeface="Calibri"/>
                <a:cs typeface="Calibri"/>
              </a:rPr>
              <a:t>How can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we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create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coherent</a:t>
            </a:r>
            <a:r>
              <a:rPr lang="fr-BE" sz="2400" dirty="0">
                <a:latin typeface="Calibri"/>
                <a:ea typeface="Calibri"/>
                <a:cs typeface="Calibri"/>
              </a:rPr>
              <a:t> arguments?</a:t>
            </a:r>
          </a:p>
          <a:p>
            <a:pPr marL="457200" indent="-457200">
              <a:buChar char="•"/>
            </a:pPr>
            <a:r>
              <a:rPr lang="fr-BE" sz="2400" dirty="0">
                <a:latin typeface="Calibri"/>
                <a:ea typeface="Calibri"/>
                <a:cs typeface="Calibri"/>
              </a:rPr>
              <a:t>Structure note =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space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where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related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ideas</a:t>
            </a:r>
            <a:r>
              <a:rPr lang="fr-BE" sz="2400" dirty="0">
                <a:latin typeface="Calibri"/>
                <a:ea typeface="Calibri"/>
                <a:cs typeface="Calibri"/>
              </a:rPr>
              <a:t> (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pulled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from</a:t>
            </a:r>
            <a:r>
              <a:rPr lang="fr-BE" sz="2400" dirty="0">
                <a:latin typeface="Calibri"/>
                <a:ea typeface="Calibri"/>
                <a:cs typeface="Calibri"/>
              </a:rPr>
              <a:t> the main notes) are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organised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into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semantic</a:t>
            </a:r>
            <a:r>
              <a:rPr lang="fr-BE" sz="2400" dirty="0">
                <a:latin typeface="Calibri"/>
                <a:ea typeface="Calibri"/>
                <a:cs typeface="Calibri"/>
              </a:rPr>
              <a:t> </a:t>
            </a:r>
            <a:r>
              <a:rPr lang="fr-BE" sz="2400" dirty="0" err="1">
                <a:latin typeface="Calibri"/>
                <a:ea typeface="Calibri"/>
                <a:cs typeface="Calibri"/>
              </a:rPr>
              <a:t>coherence</a:t>
            </a:r>
            <a:endParaRPr lang="fr-BE" sz="2400" dirty="0" err="1">
              <a:ea typeface="Calibri"/>
              <a:cs typeface="Calibri"/>
            </a:endParaRPr>
          </a:p>
          <a:p>
            <a:pPr marL="457200" indent="-457200">
              <a:buChar char="•"/>
            </a:pPr>
            <a:r>
              <a:rPr lang="fr-BE" sz="2400" err="1">
                <a:ea typeface="Calibri"/>
                <a:cs typeface="Calibri"/>
              </a:rPr>
              <a:t>Allows</a:t>
            </a:r>
            <a:r>
              <a:rPr lang="fr-BE" sz="2400">
                <a:ea typeface="Calibri"/>
                <a:cs typeface="Calibri"/>
              </a:rPr>
              <a:t> to arrange, </a:t>
            </a:r>
            <a:r>
              <a:rPr lang="fr-BE" sz="2400" err="1">
                <a:ea typeface="Calibri"/>
                <a:cs typeface="Calibri"/>
              </a:rPr>
              <a:t>edit</a:t>
            </a:r>
            <a:r>
              <a:rPr lang="fr-BE" sz="2400">
                <a:ea typeface="Calibri"/>
                <a:cs typeface="Calibri"/>
              </a:rPr>
              <a:t>, copy, </a:t>
            </a:r>
            <a:r>
              <a:rPr lang="fr-BE" sz="2400" err="1">
                <a:ea typeface="Calibri"/>
                <a:cs typeface="Calibri"/>
              </a:rPr>
              <a:t>add</a:t>
            </a:r>
            <a:r>
              <a:rPr lang="fr-BE" sz="2400">
                <a:ea typeface="Calibri"/>
                <a:cs typeface="Calibri"/>
              </a:rPr>
              <a:t> new </a:t>
            </a:r>
            <a:r>
              <a:rPr lang="fr-BE" sz="2400" err="1">
                <a:ea typeface="Calibri"/>
                <a:cs typeface="Calibri"/>
              </a:rPr>
              <a:t>ideas</a:t>
            </a:r>
            <a:r>
              <a:rPr lang="fr-BE" sz="2400" dirty="0">
                <a:ea typeface="Calibri"/>
                <a:cs typeface="Calibri"/>
              </a:rPr>
              <a:t> </a:t>
            </a:r>
            <a:r>
              <a:rPr lang="fr-BE" sz="2400">
                <a:ea typeface="Calibri"/>
                <a:cs typeface="Calibri"/>
              </a:rPr>
              <a:t>in </a:t>
            </a:r>
            <a:r>
              <a:rPr lang="fr-BE" sz="2400" err="1">
                <a:ea typeface="Calibri"/>
                <a:cs typeface="Calibri"/>
              </a:rPr>
              <a:t>ways</a:t>
            </a:r>
            <a:r>
              <a:rPr lang="fr-BE" sz="2400" dirty="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that</a:t>
            </a:r>
            <a:r>
              <a:rPr lang="fr-BE" sz="2400" dirty="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make</a:t>
            </a:r>
            <a:r>
              <a:rPr lang="fr-BE" sz="2400" dirty="0">
                <a:ea typeface="Calibri"/>
                <a:cs typeface="Calibri"/>
              </a:rPr>
              <a:t> </a:t>
            </a:r>
            <a:r>
              <a:rPr lang="fr-BE" sz="2400" err="1">
                <a:ea typeface="Calibri"/>
                <a:cs typeface="Calibri"/>
              </a:rPr>
              <a:t>sense</a:t>
            </a:r>
            <a:r>
              <a:rPr lang="fr-BE" sz="2400">
                <a:ea typeface="Calibri"/>
                <a:cs typeface="Calibri"/>
              </a:rPr>
              <a:t> for </a:t>
            </a:r>
            <a:r>
              <a:rPr lang="fr-BE" sz="2400" err="1">
                <a:ea typeface="Calibri"/>
                <a:cs typeface="Calibri"/>
              </a:rPr>
              <a:t>your</a:t>
            </a:r>
            <a:r>
              <a:rPr lang="fr-BE" sz="2400">
                <a:ea typeface="Calibri"/>
                <a:cs typeface="Calibri"/>
              </a:rPr>
              <a:t> argument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49FA31-8137-EFC3-794B-D37AE859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Structure notes</a:t>
            </a:r>
            <a:endParaRPr lang="en-US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CA9F5824-93DF-2862-87C6-66950CE612DB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11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C37A7D-C644-C330-2067-82047FB2A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427" y="272815"/>
            <a:ext cx="4803739" cy="6011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75FE84-2612-AF2D-78A4-E39DF2E4BE67}"/>
              </a:ext>
            </a:extLst>
          </p:cNvPr>
          <p:cNvSpPr txBox="1"/>
          <p:nvPr/>
        </p:nvSpPr>
        <p:spPr>
          <a:xfrm>
            <a:off x="609600" y="4500880"/>
            <a:ext cx="6258560" cy="222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spcBef>
                <a:spcPct val="20000"/>
              </a:spcBef>
              <a:spcAft>
                <a:spcPct val="0"/>
              </a:spcAft>
              <a:buFont typeface="Arial,Sans-Serif"/>
              <a:buChar char="•"/>
            </a:pPr>
            <a:r>
              <a:rPr lang="fr-BE" sz="2400" b="1" dirty="0">
                <a:solidFill>
                  <a:srgbClr val="474746"/>
                </a:solidFill>
                <a:ea typeface="Calibri"/>
                <a:cs typeface="Calibri"/>
              </a:rPr>
              <a:t>A structure note </a:t>
            </a:r>
            <a:r>
              <a:rPr lang="fr-BE" sz="2400" b="1" dirty="0" err="1">
                <a:solidFill>
                  <a:srgbClr val="474746"/>
                </a:solidFill>
                <a:ea typeface="Calibri"/>
                <a:cs typeface="Calibri"/>
              </a:rPr>
              <a:t>provides</a:t>
            </a:r>
            <a:r>
              <a:rPr lang="fr-BE" sz="2400" b="1" dirty="0">
                <a:solidFill>
                  <a:srgbClr val="474746"/>
                </a:solidFill>
                <a:ea typeface="Calibri"/>
                <a:cs typeface="Calibri"/>
              </a:rPr>
              <a:t> a </a:t>
            </a:r>
            <a:r>
              <a:rPr lang="fr-BE" sz="2400" b="1" dirty="0" err="1">
                <a:solidFill>
                  <a:srgbClr val="474746"/>
                </a:solidFill>
                <a:ea typeface="Calibri"/>
                <a:cs typeface="Calibri"/>
              </a:rPr>
              <a:t>foundation</a:t>
            </a:r>
            <a:r>
              <a:rPr lang="fr-BE" sz="2400" b="1" dirty="0">
                <a:solidFill>
                  <a:srgbClr val="474746"/>
                </a:solidFill>
                <a:ea typeface="Calibri"/>
                <a:cs typeface="Calibri"/>
              </a:rPr>
              <a:t> for </a:t>
            </a:r>
            <a:r>
              <a:rPr lang="fr-BE" sz="2400" b="1" dirty="0" err="1">
                <a:solidFill>
                  <a:srgbClr val="474746"/>
                </a:solidFill>
                <a:ea typeface="Calibri"/>
                <a:cs typeface="Calibri"/>
              </a:rPr>
              <a:t>writing</a:t>
            </a:r>
            <a:r>
              <a:rPr lang="fr-BE" sz="2400" b="1" dirty="0">
                <a:solidFill>
                  <a:srgbClr val="474746"/>
                </a:solidFill>
                <a:ea typeface="Calibri"/>
                <a:cs typeface="Calibri"/>
              </a:rPr>
              <a:t> 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(at least) </a:t>
            </a:r>
            <a:r>
              <a:rPr lang="fr-BE" sz="2400" dirty="0" err="1">
                <a:solidFill>
                  <a:srgbClr val="474746"/>
                </a:solidFill>
                <a:ea typeface="Calibri"/>
                <a:cs typeface="Calibri"/>
              </a:rPr>
              <a:t>your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 state of the art</a:t>
            </a:r>
            <a:endParaRPr lang="en-US" sz="2400" dirty="0">
              <a:ea typeface="Calibri"/>
              <a:cs typeface="Calibri"/>
            </a:endParaRPr>
          </a:p>
          <a:p>
            <a:pPr marL="457200" indent="-457200">
              <a:spcBef>
                <a:spcPct val="20000"/>
              </a:spcBef>
              <a:spcAft>
                <a:spcPct val="0"/>
              </a:spcAft>
              <a:buFont typeface="Arial,Sans-Serif"/>
              <a:buChar char="•"/>
            </a:pPr>
            <a:r>
              <a:rPr lang="fr-BE" sz="2400" b="1" dirty="0">
                <a:solidFill>
                  <a:srgbClr val="474746"/>
                </a:solidFill>
                <a:ea typeface="Calibri"/>
                <a:cs typeface="Calibri"/>
              </a:rPr>
              <a:t>BUT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 </a:t>
            </a:r>
            <a:r>
              <a:rPr lang="fr-BE" sz="2400" dirty="0" err="1">
                <a:solidFill>
                  <a:srgbClr val="474746"/>
                </a:solidFill>
                <a:ea typeface="Calibri"/>
                <a:cs typeface="Calibri"/>
              </a:rPr>
              <a:t>don't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 let </a:t>
            </a:r>
            <a:r>
              <a:rPr lang="fr-BE" sz="2400" dirty="0" err="1">
                <a:solidFill>
                  <a:srgbClr val="474746"/>
                </a:solidFill>
                <a:ea typeface="Calibri"/>
                <a:cs typeface="Calibri"/>
              </a:rPr>
              <a:t>it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 </a:t>
            </a:r>
            <a:r>
              <a:rPr lang="fr-BE" sz="2400" dirty="0" err="1">
                <a:solidFill>
                  <a:srgbClr val="474746"/>
                </a:solidFill>
                <a:ea typeface="Calibri"/>
                <a:cs typeface="Calibri"/>
              </a:rPr>
              <a:t>write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 </a:t>
            </a:r>
            <a:r>
              <a:rPr lang="fr-BE" sz="2400" dirty="0" err="1">
                <a:solidFill>
                  <a:srgbClr val="474746"/>
                </a:solidFill>
                <a:ea typeface="Calibri"/>
                <a:cs typeface="Calibri"/>
              </a:rPr>
              <a:t>your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 final </a:t>
            </a:r>
            <a:r>
              <a:rPr lang="fr-BE" sz="2400" dirty="0" err="1">
                <a:solidFill>
                  <a:srgbClr val="474746"/>
                </a:solidFill>
                <a:ea typeface="Calibri"/>
                <a:cs typeface="Calibri"/>
              </a:rPr>
              <a:t>work</a:t>
            </a:r>
            <a:r>
              <a:rPr lang="fr-BE" sz="2400" dirty="0">
                <a:solidFill>
                  <a:srgbClr val="474746"/>
                </a:solidFill>
                <a:ea typeface="Calibri"/>
                <a:cs typeface="Calibri"/>
              </a:rPr>
              <a:t> for </a:t>
            </a:r>
            <a:r>
              <a:rPr lang="fr-BE" sz="2400" dirty="0" err="1">
                <a:solidFill>
                  <a:srgbClr val="474746"/>
                </a:solidFill>
                <a:ea typeface="Calibri"/>
                <a:cs typeface="Calibri"/>
              </a:rPr>
              <a:t>you</a:t>
            </a:r>
            <a:endParaRPr lang="fr-BE" sz="2400" dirty="0" err="1">
              <a:ea typeface="Calibri"/>
              <a:cs typeface="Calibri"/>
            </a:endParaRPr>
          </a:p>
          <a:p>
            <a:pPr marL="1176655" lvl="1" indent="-342900">
              <a:spcBef>
                <a:spcPct val="20000"/>
              </a:spcBef>
              <a:spcAft>
                <a:spcPct val="0"/>
              </a:spcAft>
              <a:buFont typeface="Courier New,monospace"/>
              <a:buChar char="o"/>
            </a:pP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Ideas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</a:t>
            </a: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need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to </a:t>
            </a: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be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</a:t>
            </a: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framed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in </a:t>
            </a: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function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of the </a:t>
            </a: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subject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</a:t>
            </a: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you're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</a:t>
            </a:r>
            <a:r>
              <a:rPr lang="fr-BE" sz="2000" dirty="0" err="1">
                <a:solidFill>
                  <a:srgbClr val="2E3135"/>
                </a:solidFill>
                <a:latin typeface="Verdana"/>
                <a:ea typeface="Verdana"/>
              </a:rPr>
              <a:t>writing</a:t>
            </a:r>
            <a:r>
              <a:rPr lang="fr-BE" sz="2000" dirty="0">
                <a:solidFill>
                  <a:srgbClr val="2E3135"/>
                </a:solidFill>
                <a:latin typeface="Verdana"/>
                <a:ea typeface="Verdana"/>
              </a:rPr>
              <a:t> about !</a:t>
            </a:r>
            <a:endParaRPr lang="fr-BE" sz="2000" dirty="0">
              <a:latin typeface="Verdana"/>
              <a:ea typeface="Verdana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079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F616-FB9E-D91F-3D19-BCFB61D3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9A9036-CF3B-9D19-DFE5-233A56CA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GB" sz="2800" b="1">
                <a:ea typeface="ＭＳ Ｐゴシック"/>
              </a:rPr>
              <a:t>Example of Structure Note</a:t>
            </a:r>
            <a:endParaRPr lang="en-US"/>
          </a:p>
        </p:txBody>
      </p:sp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980F127E-427B-9B26-D501-38ECBB6F0DAD}"/>
              </a:ext>
            </a:extLst>
          </p:cNvPr>
          <p:cNvSpPr txBox="1">
            <a:spLocks/>
          </p:cNvSpPr>
          <p:nvPr/>
        </p:nvSpPr>
        <p:spPr>
          <a:xfrm>
            <a:off x="9378007" y="6591300"/>
            <a:ext cx="1289994" cy="266700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fr-FR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C695F08D-6A3B-0446-81E0-49CCB58E49CD}" type="slidenum">
              <a:rPr lang="en-GB" sz="1200">
                <a:solidFill>
                  <a:schemeClr val="bg1"/>
                </a:solidFill>
                <a:latin typeface="Calibri"/>
                <a:ea typeface="ＭＳ Ｐゴシック"/>
                <a:cs typeface="Calibri"/>
              </a:rPr>
              <a:pPr algn="r"/>
              <a:t>12</a:t>
            </a:fld>
            <a:endParaRPr lang="en-GB" sz="1200">
              <a:solidFill>
                <a:schemeClr val="bg1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0D4C7F7F-5C5E-0675-2AEB-D7B1F9833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5" y="972901"/>
            <a:ext cx="4123737" cy="49027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62CFDA-FC27-71C3-3267-C9C657246A62}"/>
              </a:ext>
            </a:extLst>
          </p:cNvPr>
          <p:cNvSpPr txBox="1"/>
          <p:nvPr/>
        </p:nvSpPr>
        <p:spPr>
          <a:xfrm>
            <a:off x="611354" y="6157402"/>
            <a:ext cx="275260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Calibri"/>
                <a:cs typeface="Calibri"/>
              </a:rPr>
              <a:t>Example from </a:t>
            </a:r>
            <a:r>
              <a:rPr lang="en-US" sz="1600">
                <a:ea typeface="Calibri"/>
                <a:cs typeface="Calibri"/>
                <a:hlinkClick r:id="rId3"/>
              </a:rPr>
              <a:t>Bob Doto's blog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12" name="Picture 11" descr="A close-up of a text&#10;&#10;AI-generated content may be incorrect.">
            <a:extLst>
              <a:ext uri="{FF2B5EF4-FFF2-40B4-BE49-F238E27FC236}">
                <a16:creationId xmlns:a16="http://schemas.microsoft.com/office/drawing/2014/main" id="{29012D38-BBD1-3140-F5DB-F0F566249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236" y="169333"/>
            <a:ext cx="3372937" cy="6425259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7016EC43-948A-069E-286A-63CF513AA3C5}"/>
              </a:ext>
            </a:extLst>
          </p:cNvPr>
          <p:cNvSpPr/>
          <p:nvPr/>
        </p:nvSpPr>
        <p:spPr>
          <a:xfrm rot="10800000">
            <a:off x="5034260" y="2929861"/>
            <a:ext cx="1657393" cy="377717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9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23d94cb-6de8-4d1d-aa96-90a67ff4087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70F1B7A31E5D439CF9338DBBDD7C60" ma:contentTypeVersion="15" ma:contentTypeDescription="Crée un document." ma:contentTypeScope="" ma:versionID="6709be37cd926efd0b7b0b91f47e124f">
  <xsd:schema xmlns:xsd="http://www.w3.org/2001/XMLSchema" xmlns:xs="http://www.w3.org/2001/XMLSchema" xmlns:p="http://schemas.microsoft.com/office/2006/metadata/properties" xmlns:ns3="f47afdcc-8cbe-438c-bc55-20c8e9257a09" xmlns:ns4="623d94cb-6de8-4d1d-aa96-90a67ff40877" targetNamespace="http://schemas.microsoft.com/office/2006/metadata/properties" ma:root="true" ma:fieldsID="dc6f8bbeecca8d9c21b35a806d9702c4" ns3:_="" ns4:_="">
    <xsd:import namespace="f47afdcc-8cbe-438c-bc55-20c8e9257a09"/>
    <xsd:import namespace="623d94cb-6de8-4d1d-aa96-90a67ff40877"/>
    <xsd:element name="properties">
      <xsd:complexType>
        <xsd:sequence>
          <xsd:element name="documentManagement">
            <xsd:complexType>
              <xsd:all>
                <xsd:element ref="ns3:SharedWithDetails" minOccurs="0"/>
                <xsd:element ref="ns3:SharedWithUser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afdcc-8cbe-438c-bc55-20c8e9257a09" elementFormDefault="qualified">
    <xsd:import namespace="http://schemas.microsoft.com/office/2006/documentManagement/types"/>
    <xsd:import namespace="http://schemas.microsoft.com/office/infopath/2007/PartnerControls"/>
    <xsd:element name="SharedWithDetails" ma:index="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3d94cb-6de8-4d1d-aa96-90a67ff408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61CF40-0633-4D11-B9BB-CD0CC396EAEB}">
  <ds:schemaRefs>
    <ds:schemaRef ds:uri="623d94cb-6de8-4d1d-aa96-90a67ff40877"/>
    <ds:schemaRef ds:uri="f47afdcc-8cbe-438c-bc55-20c8e9257a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3CB4B8-9CC6-49DC-B23F-C64EF662089C}">
  <ds:schemaRefs>
    <ds:schemaRef ds:uri="623d94cb-6de8-4d1d-aa96-90a67ff40877"/>
    <ds:schemaRef ds:uri="f47afdcc-8cbe-438c-bc55-20c8e9257a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C300F4F-1B6E-46FA-81AD-9EE54E1DB0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Conception personnalisée</vt:lpstr>
      <vt:lpstr>1_Conception personnalisée</vt:lpstr>
      <vt:lpstr>INFOB302 - Introduction à la démarche scientifique  TP 2 : Caractérisation d'un état de l'art 05/03/26</vt:lpstr>
      <vt:lpstr>Objectives</vt:lpstr>
      <vt:lpstr>Zettelkasten ? What is this ?</vt:lpstr>
      <vt:lpstr>Reference notes</vt:lpstr>
      <vt:lpstr>Reference notes</vt:lpstr>
      <vt:lpstr>Main notes</vt:lpstr>
      <vt:lpstr>Main notes</vt:lpstr>
      <vt:lpstr>How to create main notes ?</vt:lpstr>
      <vt:lpstr>Navigating the anarchy of ideas</vt:lpstr>
      <vt:lpstr>Hub notes</vt:lpstr>
      <vt:lpstr>Structure notes</vt:lpstr>
      <vt:lpstr>Example of Structure 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81</cp:revision>
  <dcterms:created xsi:type="dcterms:W3CDTF">2023-01-25T14:39:12Z</dcterms:created>
  <dcterms:modified xsi:type="dcterms:W3CDTF">2026-03-04T20:03:09Z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0x010100C570F1B7A31E5D439CF9338DBBDD7C60</vt:lpwstr>
  </property>
</Properties>
</file>